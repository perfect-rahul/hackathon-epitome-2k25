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62" r:id="rId5"/>
    <p:sldId id="263" r:id="rId6"/>
    <p:sldId id="264" r:id="rId7"/>
    <p:sldId id="259" r:id="rId8"/>
    <p:sldId id="260" r:id="rId9"/>
    <p:sldId id="261" r:id="rId10"/>
    <p:sldId id="267" r:id="rId11"/>
  </p:sldIdLst>
  <p:sldSz cx="18288000" cy="10287000"/>
  <p:notesSz cx="6858000" cy="9144000"/>
  <p:embeddedFontLst>
    <p:embeddedFont>
      <p:font typeface="Arial Bold" panose="020B0704020202020204" pitchFamily="34" charset="0"/>
      <p:regular r:id="rId13"/>
      <p:bold r:id="rId14"/>
    </p:embeddedFont>
    <p:embeddedFont>
      <p:font typeface="Arimo" panose="020B0604020202020204" charset="0"/>
      <p:regular r:id="rId15"/>
    </p:embeddedFont>
    <p:embeddedFont>
      <p:font typeface="Arimo Bold" panose="020B0604020202020204" charset="0"/>
      <p:regular r:id="rId16"/>
    </p:embeddedFont>
    <p:embeddedFont>
      <p:font typeface="Blanka" panose="020B0604020202020204" charset="0"/>
      <p:regular r:id="rId17"/>
    </p:embeddedFont>
    <p:embeddedFont>
      <p:font typeface="Calibri (MS)" panose="020B0604020202020204" charset="0"/>
      <p:regular r:id="rId18"/>
    </p:embeddedFont>
    <p:embeddedFont>
      <p:font typeface="Times New Roman Bold" panose="02020803070505020304" pitchFamily="18" charset="0"/>
      <p:regular r:id="rId19"/>
      <p:bold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21.03.2025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863084" y="901483"/>
            <a:ext cx="12807045" cy="3318248"/>
            <a:chOff x="-7260" y="-95250"/>
            <a:chExt cx="17076060" cy="4424330"/>
          </a:xfrm>
        </p:grpSpPr>
        <p:sp>
          <p:nvSpPr>
            <p:cNvPr id="3" name="Freeform 3"/>
            <p:cNvSpPr/>
            <p:nvPr/>
          </p:nvSpPr>
          <p:spPr>
            <a:xfrm>
              <a:off x="-7260" y="823880"/>
              <a:ext cx="17068800" cy="3505200"/>
            </a:xfrm>
            <a:custGeom>
              <a:avLst/>
              <a:gdLst/>
              <a:ahLst/>
              <a:cxnLst/>
              <a:rect l="l" t="t" r="r" b="b"/>
              <a:pathLst>
                <a:path w="17068800" h="3505200">
                  <a:moveTo>
                    <a:pt x="0" y="0"/>
                  </a:moveTo>
                  <a:lnTo>
                    <a:pt x="17068800" y="0"/>
                  </a:lnTo>
                  <a:lnTo>
                    <a:pt x="17068800" y="3505200"/>
                  </a:lnTo>
                  <a:lnTo>
                    <a:pt x="0" y="3505200"/>
                  </a:lnTo>
                  <a:close/>
                </a:path>
              </a:pathLst>
            </a:custGeom>
            <a:solidFill>
              <a:srgbClr val="000000">
                <a:alpha val="0"/>
              </a:srgbClr>
            </a:solidFill>
          </p:spPr>
          <p:txBody>
            <a:bodyPr/>
            <a:lstStyle/>
            <a:p>
              <a:pPr algn="ctr"/>
              <a:r>
                <a:rPr lang="en-US" sz="3600" b="1" u="sng" dirty="0">
                  <a:solidFill>
                    <a:srgbClr val="000000"/>
                  </a:solidFill>
                  <a:latin typeface="Arial Bold"/>
                  <a:ea typeface="Arial Bold"/>
                  <a:cs typeface="Arial Bold"/>
                  <a:sym typeface="Arial Bold"/>
                </a:rPr>
                <a:t>Problem Statement </a:t>
              </a:r>
              <a:r>
                <a:rPr lang="en-US" sz="3600" b="1" dirty="0">
                  <a:solidFill>
                    <a:srgbClr val="000000"/>
                  </a:solidFill>
                  <a:latin typeface="Arial Bold"/>
                  <a:ea typeface="Arial Bold"/>
                  <a:cs typeface="Arial Bold"/>
                  <a:sym typeface="Arial Bold"/>
                </a:rPr>
                <a:t>- Real time traffic management system for Jamnagar</a:t>
              </a:r>
            </a:p>
            <a:p>
              <a:pPr algn="ctr"/>
              <a:endParaRPr lang="en-IN" sz="3600" dirty="0"/>
            </a:p>
          </p:txBody>
        </p:sp>
        <p:sp>
          <p:nvSpPr>
            <p:cNvPr id="4" name="TextBox 4"/>
            <p:cNvSpPr txBox="1"/>
            <p:nvPr/>
          </p:nvSpPr>
          <p:spPr>
            <a:xfrm>
              <a:off x="0" y="-95250"/>
              <a:ext cx="17068800" cy="3600450"/>
            </a:xfrm>
            <a:prstGeom prst="rect">
              <a:avLst/>
            </a:prstGeom>
          </p:spPr>
          <p:txBody>
            <a:bodyPr lIns="0" tIns="0" rIns="0" bIns="0" rtlCol="0" anchor="t"/>
            <a:lstStyle/>
            <a:p>
              <a:pPr algn="ctr">
                <a:lnSpc>
                  <a:spcPts val="5759"/>
                </a:lnSpc>
              </a:pPr>
              <a:endParaRPr dirty="0"/>
            </a:p>
            <a:p>
              <a:pPr algn="ctr">
                <a:lnSpc>
                  <a:spcPts val="5759"/>
                </a:lnSpc>
              </a:pPr>
              <a:endParaRPr lang="en-US" sz="4800" b="1" dirty="0">
                <a:solidFill>
                  <a:srgbClr val="000000"/>
                </a:solidFill>
                <a:latin typeface="Times New Roman Bold"/>
                <a:ea typeface="Times New Roman Bold"/>
                <a:cs typeface="Times New Roman Bold"/>
                <a:sym typeface="Times New Roman Bold"/>
              </a:endParaRPr>
            </a:p>
          </p:txBody>
        </p:sp>
      </p:grpSp>
      <p:grpSp>
        <p:nvGrpSpPr>
          <p:cNvPr id="5" name="Group 5"/>
          <p:cNvGrpSpPr/>
          <p:nvPr/>
        </p:nvGrpSpPr>
        <p:grpSpPr>
          <a:xfrm>
            <a:off x="5312965" y="253128"/>
            <a:ext cx="6371149" cy="1143000"/>
            <a:chOff x="0" y="0"/>
            <a:chExt cx="8494865" cy="1524000"/>
          </a:xfrm>
        </p:grpSpPr>
        <p:sp>
          <p:nvSpPr>
            <p:cNvPr id="6" name="Freeform 6"/>
            <p:cNvSpPr/>
            <p:nvPr/>
          </p:nvSpPr>
          <p:spPr>
            <a:xfrm>
              <a:off x="0" y="0"/>
              <a:ext cx="8494865" cy="1524000"/>
            </a:xfrm>
            <a:custGeom>
              <a:avLst/>
              <a:gdLst/>
              <a:ahLst/>
              <a:cxnLst/>
              <a:rect l="l" t="t" r="r" b="b"/>
              <a:pathLst>
                <a:path w="8494865" h="1524000">
                  <a:moveTo>
                    <a:pt x="0" y="0"/>
                  </a:moveTo>
                  <a:lnTo>
                    <a:pt x="8494865" y="0"/>
                  </a:lnTo>
                  <a:lnTo>
                    <a:pt x="8494865" y="1524000"/>
                  </a:lnTo>
                  <a:lnTo>
                    <a:pt x="0" y="1524000"/>
                  </a:lnTo>
                  <a:close/>
                </a:path>
              </a:pathLst>
            </a:custGeom>
            <a:solidFill>
              <a:srgbClr val="000000">
                <a:alpha val="0"/>
              </a:srgbClr>
            </a:solidFill>
          </p:spPr>
          <p:txBody>
            <a:bodyPr/>
            <a:lstStyle/>
            <a:p>
              <a:endParaRPr lang="en-IN"/>
            </a:p>
          </p:txBody>
        </p:sp>
        <p:sp>
          <p:nvSpPr>
            <p:cNvPr id="7" name="TextBox 7"/>
            <p:cNvSpPr txBox="1"/>
            <p:nvPr/>
          </p:nvSpPr>
          <p:spPr>
            <a:xfrm>
              <a:off x="0" y="-19050"/>
              <a:ext cx="8494865" cy="1543050"/>
            </a:xfrm>
            <a:prstGeom prst="rect">
              <a:avLst/>
            </a:prstGeom>
          </p:spPr>
          <p:txBody>
            <a:bodyPr lIns="0" tIns="0" rIns="0" bIns="0" rtlCol="0" anchor="ctr"/>
            <a:lstStyle/>
            <a:p>
              <a:pPr algn="ctr">
                <a:lnSpc>
                  <a:spcPts val="7200"/>
                </a:lnSpc>
              </a:pPr>
              <a:r>
                <a:rPr lang="en-US" sz="6000">
                  <a:solidFill>
                    <a:srgbClr val="1F497D"/>
                  </a:solidFill>
                  <a:latin typeface="Blanka"/>
                  <a:ea typeface="Blanka"/>
                  <a:cs typeface="Blanka"/>
                  <a:sym typeface="Blanka"/>
                </a:rPr>
                <a:t>Hack4</a:t>
              </a:r>
              <a:r>
                <a:rPr lang="en-US" sz="6000">
                  <a:solidFill>
                    <a:srgbClr val="C00000"/>
                  </a:solidFill>
                  <a:latin typeface="Blanka"/>
                  <a:ea typeface="Blanka"/>
                  <a:cs typeface="Blanka"/>
                  <a:sym typeface="Blanka"/>
                </a:rPr>
                <a:t>Industry</a:t>
              </a:r>
            </a:p>
          </p:txBody>
        </p:sp>
      </p:grpSp>
      <p:grpSp>
        <p:nvGrpSpPr>
          <p:cNvPr id="8" name="Group 8"/>
          <p:cNvGrpSpPr/>
          <p:nvPr/>
        </p:nvGrpSpPr>
        <p:grpSpPr>
          <a:xfrm>
            <a:off x="496929" y="2848130"/>
            <a:ext cx="9485271" cy="7111678"/>
            <a:chOff x="0" y="-76200"/>
            <a:chExt cx="12647028" cy="9482238"/>
          </a:xfrm>
        </p:grpSpPr>
        <p:sp>
          <p:nvSpPr>
            <p:cNvPr id="9" name="Freeform 9"/>
            <p:cNvSpPr/>
            <p:nvPr/>
          </p:nvSpPr>
          <p:spPr>
            <a:xfrm>
              <a:off x="0" y="0"/>
              <a:ext cx="11849100" cy="9406038"/>
            </a:xfrm>
            <a:custGeom>
              <a:avLst/>
              <a:gdLst/>
              <a:ahLst/>
              <a:cxnLst/>
              <a:rect l="l" t="t" r="r" b="b"/>
              <a:pathLst>
                <a:path w="11849100" h="9406038">
                  <a:moveTo>
                    <a:pt x="0" y="0"/>
                  </a:moveTo>
                  <a:lnTo>
                    <a:pt x="11849100" y="0"/>
                  </a:lnTo>
                  <a:lnTo>
                    <a:pt x="11849100" y="9406038"/>
                  </a:lnTo>
                  <a:lnTo>
                    <a:pt x="0" y="9406038"/>
                  </a:lnTo>
                  <a:close/>
                </a:path>
              </a:pathLst>
            </a:custGeom>
            <a:solidFill>
              <a:srgbClr val="000000">
                <a:alpha val="0"/>
              </a:srgbClr>
            </a:solidFill>
          </p:spPr>
          <p:txBody>
            <a:bodyPr/>
            <a:lstStyle/>
            <a:p>
              <a:endParaRPr lang="en-IN"/>
            </a:p>
          </p:txBody>
        </p:sp>
        <p:sp>
          <p:nvSpPr>
            <p:cNvPr id="10" name="TextBox 10"/>
            <p:cNvSpPr txBox="1"/>
            <p:nvPr/>
          </p:nvSpPr>
          <p:spPr>
            <a:xfrm>
              <a:off x="0" y="-76200"/>
              <a:ext cx="12647028" cy="9482238"/>
            </a:xfrm>
            <a:prstGeom prst="rect">
              <a:avLst/>
            </a:prstGeom>
          </p:spPr>
          <p:txBody>
            <a:bodyPr lIns="0" tIns="0" rIns="0" bIns="0" rtlCol="0" anchor="t"/>
            <a:lstStyle/>
            <a:p>
              <a:pPr marL="325755" lvl="1" algn="just"/>
              <a:endParaRPr lang="en-US" sz="3600" b="1" dirty="0">
                <a:solidFill>
                  <a:srgbClr val="000000"/>
                </a:solidFill>
                <a:latin typeface="Arial Bold"/>
                <a:ea typeface="Arial Bold"/>
                <a:cs typeface="Arial Bold"/>
                <a:sym typeface="Arial Bold"/>
              </a:endParaRPr>
            </a:p>
            <a:p>
              <a:pPr marL="325755" lvl="1" algn="just"/>
              <a:endParaRPr lang="en-US" sz="3600" b="1" dirty="0">
                <a:solidFill>
                  <a:srgbClr val="000000"/>
                </a:solidFill>
                <a:latin typeface="Arial Bold"/>
                <a:ea typeface="Arial Bold"/>
                <a:cs typeface="Arial Bold"/>
                <a:sym typeface="Arial Bold"/>
              </a:endParaRPr>
            </a:p>
            <a:p>
              <a:pPr marL="651510" lvl="1" indent="-325755" algn="just">
                <a:buFont typeface="Arial"/>
                <a:buChar char="•"/>
              </a:pPr>
              <a:r>
                <a:rPr lang="en-US" sz="3600" b="1" u="sng" dirty="0">
                  <a:solidFill>
                    <a:srgbClr val="000000"/>
                  </a:solidFill>
                  <a:latin typeface="Arial Bold"/>
                  <a:ea typeface="Arial Bold"/>
                  <a:cs typeface="Arial Bold"/>
                  <a:sym typeface="Arial Bold"/>
                </a:rPr>
                <a:t>Team Name</a:t>
              </a:r>
              <a:r>
                <a:rPr lang="en-US" sz="3600" b="1" dirty="0">
                  <a:solidFill>
                    <a:srgbClr val="000000"/>
                  </a:solidFill>
                  <a:latin typeface="Arial Bold"/>
                  <a:ea typeface="Arial Bold"/>
                  <a:cs typeface="Arial Bold"/>
                  <a:sym typeface="Arial Bold"/>
                </a:rPr>
                <a:t>- Team </a:t>
              </a:r>
              <a:r>
                <a:rPr lang="en-US" sz="3600" b="1" dirty="0" err="1">
                  <a:solidFill>
                    <a:srgbClr val="000000"/>
                  </a:solidFill>
                  <a:latin typeface="Arial Bold"/>
                  <a:ea typeface="Arial Bold"/>
                  <a:cs typeface="Arial Bold"/>
                  <a:sym typeface="Arial Bold"/>
                </a:rPr>
                <a:t>Omniscients</a:t>
              </a:r>
              <a:endParaRPr lang="en-US" sz="3600" b="1" dirty="0">
                <a:solidFill>
                  <a:srgbClr val="000000"/>
                </a:solidFill>
                <a:latin typeface="Arial Bold"/>
                <a:ea typeface="Arial Bold"/>
                <a:cs typeface="Arial Bold"/>
                <a:sym typeface="Arial Bold"/>
              </a:endParaRPr>
            </a:p>
            <a:p>
              <a:pPr marL="325755" lvl="1" algn="just"/>
              <a:endParaRPr lang="en-US" sz="3600" b="1" dirty="0">
                <a:solidFill>
                  <a:srgbClr val="000000"/>
                </a:solidFill>
                <a:latin typeface="Arial Bold"/>
                <a:ea typeface="Arial Bold"/>
                <a:cs typeface="Arial Bold"/>
                <a:sym typeface="Arial Bold"/>
              </a:endParaRPr>
            </a:p>
            <a:p>
              <a:pPr marL="651510" lvl="1" indent="-325755" algn="just">
                <a:buFont typeface="Arial"/>
                <a:buChar char="•"/>
              </a:pPr>
              <a:r>
                <a:rPr lang="en-US" sz="3600" b="1" u="sng" dirty="0">
                  <a:solidFill>
                    <a:srgbClr val="000000"/>
                  </a:solidFill>
                  <a:latin typeface="Arial Bold"/>
                  <a:ea typeface="Arial Bold"/>
                  <a:cs typeface="Arial Bold"/>
                  <a:sym typeface="Arial Bold"/>
                </a:rPr>
                <a:t>Members</a:t>
              </a:r>
              <a:r>
                <a:rPr lang="en-US" sz="3600" b="1" dirty="0">
                  <a:solidFill>
                    <a:srgbClr val="000000"/>
                  </a:solidFill>
                  <a:latin typeface="Arial Bold"/>
                  <a:ea typeface="Arial Bold"/>
                  <a:cs typeface="Arial Bold"/>
                  <a:sym typeface="Arial Bold"/>
                </a:rPr>
                <a:t>: </a:t>
              </a:r>
            </a:p>
            <a:p>
              <a:pPr marL="325755" lvl="1" algn="just"/>
              <a:r>
                <a:rPr lang="en-US" sz="3600" b="1" dirty="0">
                  <a:solidFill>
                    <a:srgbClr val="000000"/>
                  </a:solidFill>
                  <a:latin typeface="Arial Bold"/>
                  <a:ea typeface="Arial Bold"/>
                  <a:cs typeface="Arial Bold"/>
                  <a:sym typeface="Arial Bold"/>
                </a:rPr>
                <a:t>   Rahul Panwar</a:t>
              </a:r>
            </a:p>
            <a:p>
              <a:pPr marL="325755" lvl="1" algn="just"/>
              <a:r>
                <a:rPr lang="en-US" sz="3600" b="1" dirty="0">
                  <a:solidFill>
                    <a:srgbClr val="000000"/>
                  </a:solidFill>
                  <a:latin typeface="Arial Bold"/>
                  <a:ea typeface="Arial Bold"/>
                  <a:cs typeface="Arial Bold"/>
                  <a:sym typeface="Arial Bold"/>
                </a:rPr>
                <a:t>   Ansh Sharma</a:t>
              </a:r>
            </a:p>
            <a:p>
              <a:pPr marL="325755" lvl="1" algn="just"/>
              <a:r>
                <a:rPr lang="en-US" sz="3600" b="1" dirty="0">
                  <a:solidFill>
                    <a:srgbClr val="000000"/>
                  </a:solidFill>
                  <a:latin typeface="Arial Bold"/>
                  <a:ea typeface="Arial Bold"/>
                  <a:cs typeface="Arial Bold"/>
                  <a:sym typeface="Arial Bold"/>
                </a:rPr>
                <a:t>   Harsh Raj</a:t>
              </a:r>
            </a:p>
            <a:p>
              <a:pPr marL="325755" lvl="1" algn="just"/>
              <a:r>
                <a:rPr lang="en-US" sz="3600" b="1" dirty="0">
                  <a:solidFill>
                    <a:srgbClr val="000000"/>
                  </a:solidFill>
                  <a:latin typeface="Arial Bold"/>
                  <a:ea typeface="Arial Bold"/>
                  <a:cs typeface="Arial Bold"/>
                  <a:sym typeface="Arial Bold"/>
                </a:rPr>
                <a:t>   Kanishk Kushwaha</a:t>
              </a:r>
            </a:p>
            <a:p>
              <a:pPr marL="325755" lvl="1" algn="just"/>
              <a:r>
                <a:rPr lang="en-US" sz="3600" b="1" dirty="0">
                  <a:solidFill>
                    <a:srgbClr val="000000"/>
                  </a:solidFill>
                  <a:latin typeface="Arial Bold"/>
                  <a:ea typeface="Arial Bold"/>
                  <a:cs typeface="Arial Bold"/>
                  <a:sym typeface="Arial Bold"/>
                </a:rPr>
                <a:t>   Shivansh Gupta</a:t>
              </a:r>
            </a:p>
            <a:p>
              <a:pPr marL="325755" lvl="1" algn="just"/>
              <a:endParaRPr lang="en-US" sz="3600" b="1" dirty="0">
                <a:solidFill>
                  <a:srgbClr val="000000"/>
                </a:solidFill>
                <a:latin typeface="Arial Bold"/>
                <a:ea typeface="Arial Bold"/>
                <a:cs typeface="Arial Bold"/>
                <a:sym typeface="Arial Bold"/>
              </a:endParaRPr>
            </a:p>
            <a:p>
              <a:pPr marL="897255" lvl="1" indent="-571500" algn="just">
                <a:buFont typeface="Arial" panose="020B0604020202020204" pitchFamily="34" charset="0"/>
                <a:buChar char="•"/>
              </a:pPr>
              <a:r>
                <a:rPr lang="en-US" sz="3600" b="1" dirty="0">
                  <a:solidFill>
                    <a:srgbClr val="000000"/>
                  </a:solidFill>
                  <a:latin typeface="Arial Bold"/>
                  <a:ea typeface="Arial Bold"/>
                  <a:cs typeface="Arial Bold"/>
                  <a:sym typeface="Arial Bold"/>
                </a:rPr>
                <a:t>So, What’s the Problem in Jamnagar??</a:t>
              </a:r>
            </a:p>
            <a:p>
              <a:pPr marL="325755" lvl="1" algn="just">
                <a:lnSpc>
                  <a:spcPts val="8640"/>
                </a:lnSpc>
              </a:pPr>
              <a:endParaRPr lang="en-US" sz="3600" b="1" dirty="0">
                <a:solidFill>
                  <a:srgbClr val="000000"/>
                </a:solidFill>
                <a:latin typeface="Arial Bold"/>
                <a:ea typeface="Arial Bold"/>
                <a:cs typeface="Arial Bold"/>
                <a:sym typeface="Arial Bold"/>
              </a:endParaRPr>
            </a:p>
          </p:txBody>
        </p:sp>
      </p:grpSp>
      <p:sp>
        <p:nvSpPr>
          <p:cNvPr id="11" name="Freeform 11"/>
          <p:cNvSpPr/>
          <p:nvPr/>
        </p:nvSpPr>
        <p:spPr>
          <a:xfrm rot="5400000">
            <a:off x="11321934" y="3936328"/>
            <a:ext cx="9110734" cy="2414345"/>
          </a:xfrm>
          <a:custGeom>
            <a:avLst/>
            <a:gdLst/>
            <a:ahLst/>
            <a:cxnLst/>
            <a:rect l="l" t="t" r="r" b="b"/>
            <a:pathLst>
              <a:path w="9110734" h="2414345">
                <a:moveTo>
                  <a:pt x="0" y="0"/>
                </a:moveTo>
                <a:lnTo>
                  <a:pt x="9110734" y="0"/>
                </a:lnTo>
                <a:lnTo>
                  <a:pt x="9110734" y="2414344"/>
                </a:lnTo>
                <a:lnTo>
                  <a:pt x="0" y="24143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2" name="Freeform 12"/>
          <p:cNvSpPr/>
          <p:nvPr/>
        </p:nvSpPr>
        <p:spPr>
          <a:xfrm>
            <a:off x="278355" y="247307"/>
            <a:ext cx="2053284" cy="2657973"/>
          </a:xfrm>
          <a:custGeom>
            <a:avLst/>
            <a:gdLst/>
            <a:ahLst/>
            <a:cxnLst/>
            <a:rect l="l" t="t" r="r" b="b"/>
            <a:pathLst>
              <a:path w="2053284" h="2657973">
                <a:moveTo>
                  <a:pt x="0" y="0"/>
                </a:moveTo>
                <a:lnTo>
                  <a:pt x="2053285" y="0"/>
                </a:lnTo>
                <a:lnTo>
                  <a:pt x="2053285" y="2657973"/>
                </a:lnTo>
                <a:lnTo>
                  <a:pt x="0" y="2657973"/>
                </a:lnTo>
                <a:lnTo>
                  <a:pt x="0" y="0"/>
                </a:lnTo>
                <a:close/>
              </a:path>
            </a:pathLst>
          </a:custGeom>
          <a:blipFill>
            <a:blip r:embed="rId4"/>
            <a:stretch>
              <a:fillRect/>
            </a:stretch>
          </a:blipFill>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3"/>
            <a:ext cx="18287998" cy="754857"/>
            <a:chOff x="0" y="0"/>
            <a:chExt cx="24383998" cy="1006476"/>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txBody>
            <a:bodyPr/>
            <a:lstStyle/>
            <a:p>
              <a:endParaRPr lang="en-IN"/>
            </a:p>
          </p:txBody>
        </p:sp>
      </p:grpSp>
      <p:grpSp>
        <p:nvGrpSpPr>
          <p:cNvPr id="4" name="Group 4"/>
          <p:cNvGrpSpPr/>
          <p:nvPr/>
        </p:nvGrpSpPr>
        <p:grpSpPr>
          <a:xfrm>
            <a:off x="510989" y="0"/>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solidFill>
              <a:srgbClr val="000000">
                <a:alpha val="0"/>
              </a:srgbClr>
            </a:solidFill>
          </p:spPr>
          <p:txBody>
            <a:bodyPr/>
            <a:lstStyle/>
            <a:p>
              <a:endParaRPr lang="en-IN"/>
            </a:p>
          </p:txBody>
        </p:sp>
        <p:sp>
          <p:nvSpPr>
            <p:cNvPr id="6" name="TextBox 6"/>
            <p:cNvSpPr txBox="1"/>
            <p:nvPr/>
          </p:nvSpPr>
          <p:spPr>
            <a:xfrm>
              <a:off x="0" y="-104775"/>
              <a:ext cx="21945600" cy="2390775"/>
            </a:xfrm>
            <a:prstGeom prst="rect">
              <a:avLst/>
            </a:prstGeom>
          </p:spPr>
          <p:txBody>
            <a:bodyPr lIns="0" tIns="0" rIns="0" bIns="0" rtlCol="0" anchor="ctr"/>
            <a:lstStyle/>
            <a:p>
              <a:pPr algn="ctr">
                <a:lnSpc>
                  <a:spcPts val="6480"/>
                </a:lnSpc>
              </a:pPr>
              <a:endParaRPr dirty="0"/>
            </a:p>
            <a:p>
              <a:pPr algn="ctr">
                <a:lnSpc>
                  <a:spcPts val="6480"/>
                </a:lnSpc>
              </a:pPr>
              <a:r>
                <a:rPr lang="en-US" sz="4400" b="1" dirty="0">
                  <a:solidFill>
                    <a:srgbClr val="000000"/>
                  </a:solidFill>
                  <a:latin typeface="Times New Roman Bold"/>
                  <a:ea typeface="Times New Roman Bold"/>
                  <a:cs typeface="Times New Roman Bold"/>
                  <a:sym typeface="Times New Roman Bold"/>
                </a:rPr>
                <a:t>ALGORITHMIC APPROACH</a:t>
              </a:r>
            </a:p>
          </p:txBody>
        </p:sp>
      </p:grpSp>
      <p:grpSp>
        <p:nvGrpSpPr>
          <p:cNvPr id="7" name="Group 7"/>
          <p:cNvGrpSpPr/>
          <p:nvPr/>
        </p:nvGrpSpPr>
        <p:grpSpPr>
          <a:xfrm>
            <a:off x="-19050" y="2043740"/>
            <a:ext cx="18287998" cy="7476502"/>
            <a:chOff x="0" y="-95250"/>
            <a:chExt cx="24383998" cy="5565328"/>
          </a:xfrm>
        </p:grpSpPr>
        <p:sp>
          <p:nvSpPr>
            <p:cNvPr id="8" name="Freeform 8"/>
            <p:cNvSpPr/>
            <p:nvPr/>
          </p:nvSpPr>
          <p:spPr>
            <a:xfrm>
              <a:off x="0" y="0"/>
              <a:ext cx="24383998" cy="5470078"/>
            </a:xfrm>
            <a:custGeom>
              <a:avLst/>
              <a:gdLst/>
              <a:ahLst/>
              <a:cxnLst/>
              <a:rect l="l" t="t" r="r" b="b"/>
              <a:pathLst>
                <a:path w="24383998" h="5470078">
                  <a:moveTo>
                    <a:pt x="0" y="0"/>
                  </a:moveTo>
                  <a:lnTo>
                    <a:pt x="24383998" y="0"/>
                  </a:lnTo>
                  <a:lnTo>
                    <a:pt x="24383998" y="5470078"/>
                  </a:lnTo>
                  <a:lnTo>
                    <a:pt x="0" y="5470078"/>
                  </a:lnTo>
                  <a:close/>
                </a:path>
              </a:pathLst>
            </a:custGeom>
            <a:solidFill>
              <a:srgbClr val="000000">
                <a:alpha val="0"/>
              </a:srgbClr>
            </a:solidFill>
          </p:spPr>
          <p:txBody>
            <a:bodyPr/>
            <a:lstStyle/>
            <a:p>
              <a:endParaRPr lang="en-IN"/>
            </a:p>
          </p:txBody>
        </p:sp>
        <p:sp>
          <p:nvSpPr>
            <p:cNvPr id="9" name="TextBox 9"/>
            <p:cNvSpPr txBox="1"/>
            <p:nvPr/>
          </p:nvSpPr>
          <p:spPr>
            <a:xfrm>
              <a:off x="50803" y="-95250"/>
              <a:ext cx="24333195" cy="5565328"/>
            </a:xfrm>
            <a:prstGeom prst="rect">
              <a:avLst/>
            </a:prstGeom>
          </p:spPr>
          <p:txBody>
            <a:bodyPr lIns="0" tIns="0" rIns="0" bIns="0" rtlCol="0" anchor="t"/>
            <a:lstStyle/>
            <a:p>
              <a:pPr marL="868680" lvl="1" indent="-434340" algn="l">
                <a:lnSpc>
                  <a:spcPts val="5759"/>
                </a:lnSpc>
                <a:buFont typeface="Arial"/>
                <a:buChar char="•"/>
              </a:pPr>
              <a:r>
                <a:rPr lang="en-US" sz="3600" b="1" u="sng" dirty="0">
                  <a:solidFill>
                    <a:srgbClr val="1F497D"/>
                  </a:solidFill>
                  <a:latin typeface="Arial Bold"/>
                  <a:ea typeface="Arial Bold"/>
                  <a:cs typeface="Arial Bold"/>
                  <a:sym typeface="Arial Bold"/>
                </a:rPr>
                <a:t>Particle Swarm Optimization</a:t>
              </a:r>
              <a:r>
                <a:rPr lang="en-US" sz="3600" dirty="0">
                  <a:solidFill>
                    <a:srgbClr val="1F497D"/>
                  </a:solidFill>
                  <a:latin typeface="Arial Bold"/>
                  <a:ea typeface="Arial Bold"/>
                  <a:cs typeface="Arial Bold"/>
                  <a:sym typeface="Arial Bold"/>
                </a:rPr>
                <a:t> </a:t>
              </a:r>
              <a:r>
                <a:rPr lang="en-US" sz="3600" strike="sngStrike" dirty="0">
                  <a:solidFill>
                    <a:srgbClr val="1F497D"/>
                  </a:solidFill>
                  <a:latin typeface="Arial Bold"/>
                  <a:ea typeface="Arial Bold"/>
                  <a:cs typeface="Arial Bold"/>
                  <a:sym typeface="Arial Bold"/>
                </a:rPr>
                <a:t>can be</a:t>
              </a:r>
              <a:r>
                <a:rPr lang="en-US" sz="3600" dirty="0">
                  <a:solidFill>
                    <a:srgbClr val="1F497D"/>
                  </a:solidFill>
                  <a:latin typeface="Arial Bold"/>
                  <a:ea typeface="Arial Bold"/>
                  <a:cs typeface="Arial Bold"/>
                  <a:sym typeface="Arial Bold"/>
                </a:rPr>
                <a:t> is a solution</a:t>
              </a:r>
              <a:endParaRPr lang="en-US" sz="3600" b="1" u="sng" dirty="0">
                <a:solidFill>
                  <a:srgbClr val="1F497D"/>
                </a:solidFill>
                <a:latin typeface="Arial Bold"/>
                <a:ea typeface="Arial Bold"/>
                <a:cs typeface="Arial Bold"/>
                <a:sym typeface="Arial Bold"/>
              </a:endParaRPr>
            </a:p>
            <a:p>
              <a:pPr marL="434340" lvl="1" algn="l">
                <a:lnSpc>
                  <a:spcPts val="5759"/>
                </a:lnSpc>
              </a:pPr>
              <a:r>
                <a:rPr lang="en-US" sz="2400" b="1" dirty="0">
                  <a:solidFill>
                    <a:srgbClr val="1F497D"/>
                  </a:solidFill>
                  <a:latin typeface="Arial" panose="020B0604020202020204" pitchFamily="34" charset="0"/>
                  <a:ea typeface="Arial Bold"/>
                  <a:cs typeface="Arial" panose="020B0604020202020204" pitchFamily="34" charset="0"/>
                  <a:sym typeface="Arial Bold"/>
                </a:rPr>
                <a:t>Optimize</a:t>
              </a:r>
              <a:r>
                <a:rPr lang="en-US" sz="2400" dirty="0">
                  <a:solidFill>
                    <a:srgbClr val="1F497D"/>
                  </a:solidFill>
                  <a:latin typeface="Arial" panose="020B0604020202020204" pitchFamily="34" charset="0"/>
                  <a:ea typeface="Arial Bold"/>
                  <a:cs typeface="Arial" panose="020B0604020202020204" pitchFamily="34" charset="0"/>
                  <a:sym typeface="Arial Bold"/>
                </a:rPr>
                <a:t> four signals at </a:t>
              </a:r>
              <a:r>
                <a:rPr lang="en-US" sz="2400" b="1" dirty="0" err="1">
                  <a:solidFill>
                    <a:srgbClr val="1F497D"/>
                  </a:solidFill>
                  <a:latin typeface="Arial" panose="020B0604020202020204" pitchFamily="34" charset="0"/>
                  <a:ea typeface="Arial Bold"/>
                  <a:cs typeface="Arial" panose="020B0604020202020204" pitchFamily="34" charset="0"/>
                  <a:sym typeface="Arial Bold"/>
                </a:rPr>
                <a:t>Motikhavdi</a:t>
              </a:r>
              <a:r>
                <a:rPr lang="en-US" sz="2400" b="1" dirty="0">
                  <a:solidFill>
                    <a:srgbClr val="1F497D"/>
                  </a:solidFill>
                  <a:latin typeface="Arial" panose="020B0604020202020204" pitchFamily="34" charset="0"/>
                  <a:ea typeface="Arial Bold"/>
                  <a:cs typeface="Arial" panose="020B0604020202020204" pitchFamily="34" charset="0"/>
                  <a:sym typeface="Arial Bold"/>
                </a:rPr>
                <a:t> </a:t>
              </a:r>
              <a:r>
                <a:rPr lang="en-US" sz="2400" dirty="0">
                  <a:solidFill>
                    <a:srgbClr val="1F497D"/>
                  </a:solidFill>
                  <a:latin typeface="Arial" panose="020B0604020202020204" pitchFamily="34" charset="0"/>
                  <a:ea typeface="Arial Bold"/>
                  <a:cs typeface="Arial" panose="020B0604020202020204" pitchFamily="34" charset="0"/>
                  <a:sym typeface="Arial Bold"/>
                </a:rPr>
                <a:t>(North, South, East, West), linked to signals at the previous crossing (refinery gate) and next crossing (toward Jamnagar city).</a:t>
              </a:r>
            </a:p>
            <a:p>
              <a:pPr marL="760095" lvl="1" indent="-380048" algn="just">
                <a:lnSpc>
                  <a:spcPts val="5040"/>
                </a:lnSpc>
                <a:buFont typeface="Arial"/>
                <a:buChar char="•"/>
              </a:pPr>
              <a:r>
                <a:rPr lang="en-US" sz="2400" b="1" dirty="0">
                  <a:solidFill>
                    <a:srgbClr val="000000"/>
                  </a:solidFill>
                  <a:latin typeface="Arial"/>
                  <a:ea typeface="Arial"/>
                  <a:cs typeface="Arial"/>
                  <a:sym typeface="Arial"/>
                </a:rPr>
                <a:t>Objective or Fitness: </a:t>
              </a:r>
              <a:r>
                <a:rPr lang="en-US" sz="2400" dirty="0">
                  <a:solidFill>
                    <a:srgbClr val="000000"/>
                  </a:solidFill>
                  <a:latin typeface="Arial"/>
                  <a:ea typeface="Arial"/>
                  <a:cs typeface="Arial"/>
                  <a:sym typeface="Arial"/>
                </a:rPr>
                <a:t>Minimizing cost function that is our delay cost function:  </a:t>
              </a:r>
            </a:p>
            <a:p>
              <a:pPr marL="380047" lvl="1" algn="just">
                <a:lnSpc>
                  <a:spcPts val="5040"/>
                </a:lnSpc>
              </a:pPr>
              <a:r>
                <a:rPr lang="en-US" sz="2400" b="1" dirty="0">
                  <a:solidFill>
                    <a:srgbClr val="000000"/>
                  </a:solidFill>
                  <a:latin typeface="Arial"/>
                  <a:ea typeface="Arial"/>
                  <a:cs typeface="Arial"/>
                  <a:sym typeface="Wingdings" panose="05000000000000000000" pitchFamily="2" charset="2"/>
                </a:rPr>
                <a:t></a:t>
              </a:r>
              <a:r>
                <a:rPr lang="en-US" sz="2400" b="1" dirty="0">
                  <a:solidFill>
                    <a:srgbClr val="000000"/>
                  </a:solidFill>
                  <a:latin typeface="Arial"/>
                  <a:ea typeface="Arial"/>
                  <a:cs typeface="Arial"/>
                  <a:sym typeface="Arial"/>
                </a:rPr>
                <a:t>Delay cost = Summation(Ti*Vi)+3.D(truck</a:t>
              </a:r>
              <a:r>
                <a:rPr lang="en-US" sz="2400" dirty="0">
                  <a:solidFill>
                    <a:srgbClr val="000000"/>
                  </a:solidFill>
                  <a:latin typeface="Arial"/>
                  <a:ea typeface="Arial"/>
                  <a:cs typeface="Arial"/>
                  <a:sym typeface="Arial"/>
                </a:rPr>
                <a:t>) </a:t>
              </a:r>
              <a:r>
                <a:rPr lang="en-US" sz="2400" b="1" dirty="0">
                  <a:solidFill>
                    <a:srgbClr val="000000"/>
                  </a:solidFill>
                  <a:latin typeface="Arial"/>
                  <a:ea typeface="Arial"/>
                  <a:cs typeface="Arial"/>
                  <a:sym typeface="Arial"/>
                </a:rPr>
                <a:t>+ 10.D(Emergency)</a:t>
              </a:r>
              <a:endParaRPr lang="en-US" sz="2400" dirty="0">
                <a:solidFill>
                  <a:srgbClr val="000000"/>
                </a:solidFill>
                <a:latin typeface="Arial"/>
                <a:ea typeface="Arial"/>
                <a:cs typeface="Arial"/>
                <a:sym typeface="Arial"/>
              </a:endParaRPr>
            </a:p>
            <a:p>
              <a:pPr marL="380047" lvl="1" algn="just">
                <a:lnSpc>
                  <a:spcPts val="5040"/>
                </a:lnSpc>
              </a:pPr>
              <a:r>
                <a:rPr lang="en-US" sz="2400" dirty="0">
                  <a:solidFill>
                    <a:srgbClr val="000000"/>
                  </a:solidFill>
                  <a:latin typeface="Arial"/>
                  <a:ea typeface="Arial"/>
                  <a:cs typeface="Arial"/>
                  <a:sym typeface="Arial"/>
                </a:rPr>
                <a:t>Ti and Vi are delay and vehicle counts per direction, truck delays weighted more and Emergency vehicle defers weighted higher.</a:t>
              </a:r>
            </a:p>
            <a:p>
              <a:pPr marL="722947" lvl="1" indent="-342900" algn="just">
                <a:lnSpc>
                  <a:spcPts val="5040"/>
                </a:lnSpc>
                <a:buFont typeface="Arial" panose="020B0604020202020204" pitchFamily="34" charset="0"/>
                <a:buChar char="•"/>
              </a:pPr>
              <a:r>
                <a:rPr lang="en-US" sz="2400" b="1" dirty="0">
                  <a:solidFill>
                    <a:srgbClr val="000000"/>
                  </a:solidFill>
                  <a:latin typeface="Arial"/>
                  <a:ea typeface="Arial"/>
                  <a:cs typeface="Arial"/>
                  <a:sym typeface="Arial"/>
                </a:rPr>
                <a:t>Variables:</a:t>
              </a:r>
              <a:r>
                <a:rPr lang="en-US" sz="2400" dirty="0">
                  <a:solidFill>
                    <a:srgbClr val="000000"/>
                  </a:solidFill>
                  <a:latin typeface="Arial"/>
                  <a:ea typeface="Arial"/>
                  <a:cs typeface="Arial"/>
                  <a:sym typeface="Arial"/>
                </a:rPr>
                <a:t> Green times for four directions (10-90s each). [N,S,E,W]</a:t>
              </a:r>
            </a:p>
            <a:p>
              <a:pPr marL="722947" lvl="1" indent="-342900" algn="just">
                <a:buFont typeface="Arial" panose="020B0604020202020204" pitchFamily="34" charset="0"/>
                <a:buChar char="•"/>
              </a:pPr>
              <a:r>
                <a:rPr lang="en-US" sz="2400" dirty="0">
                  <a:solidFill>
                    <a:srgbClr val="000000"/>
                  </a:solidFill>
                  <a:latin typeface="Arial"/>
                  <a:ea typeface="Arial"/>
                  <a:cs typeface="Arial"/>
                  <a:sym typeface="Arial"/>
                </a:rPr>
                <a:t>[ 1 particle = set of four green signals]</a:t>
              </a:r>
            </a:p>
            <a:p>
              <a:pPr marL="380047" lvl="1" algn="just"/>
              <a:r>
                <a:rPr lang="en-US" sz="2400" dirty="0">
                  <a:solidFill>
                    <a:srgbClr val="000000"/>
                  </a:solidFill>
                  <a:latin typeface="Arial"/>
                  <a:ea typeface="Arial"/>
                  <a:cs typeface="Arial"/>
                  <a:sym typeface="Arial"/>
                </a:rPr>
                <a:t>Particles: 20 particles, each a set of four green times, e.g.:</a:t>
              </a:r>
            </a:p>
            <a:p>
              <a:pPr marL="380047" lvl="1" algn="just"/>
              <a:endParaRPr lang="en-US" sz="2400" dirty="0">
                <a:solidFill>
                  <a:srgbClr val="000000"/>
                </a:solidFill>
                <a:latin typeface="Arial"/>
                <a:ea typeface="Arial"/>
                <a:cs typeface="Arial"/>
                <a:sym typeface="Arial"/>
              </a:endParaRPr>
            </a:p>
            <a:p>
              <a:pPr marL="380047" lvl="1" algn="just"/>
              <a:r>
                <a:rPr lang="en-US" sz="2400" dirty="0">
                  <a:solidFill>
                    <a:srgbClr val="000000"/>
                  </a:solidFill>
                  <a:latin typeface="Arial"/>
                  <a:ea typeface="Arial"/>
                  <a:cs typeface="Arial"/>
                  <a:sym typeface="Arial"/>
                </a:rPr>
                <a:t>Particle 1: [50s N, 30s S, 20s E, 25s W].</a:t>
              </a:r>
            </a:p>
            <a:p>
              <a:pPr marL="380047" lvl="1" algn="just"/>
              <a:r>
                <a:rPr lang="en-US" sz="2400" dirty="0">
                  <a:solidFill>
                    <a:srgbClr val="000000"/>
                  </a:solidFill>
                  <a:latin typeface="Arial"/>
                  <a:ea typeface="Arial"/>
                  <a:cs typeface="Arial"/>
                  <a:sym typeface="Arial"/>
                </a:rPr>
                <a:t>Particle 2: [60s N, 25s S, 30s E, 20s W].</a:t>
              </a:r>
            </a:p>
            <a:p>
              <a:pPr marL="722947" lvl="1" indent="-342900" algn="just">
                <a:buFont typeface="Arial" panose="020B0604020202020204" pitchFamily="34" charset="0"/>
                <a:buChar char="•"/>
              </a:pPr>
              <a:endParaRPr lang="en-US" sz="2400" dirty="0">
                <a:solidFill>
                  <a:srgbClr val="000000"/>
                </a:solidFill>
                <a:latin typeface="Arial"/>
                <a:ea typeface="Arial"/>
                <a:cs typeface="Arial"/>
                <a:sym typeface="Arial"/>
              </a:endParaRPr>
            </a:p>
            <a:p>
              <a:pPr marL="380047" lvl="1" algn="just"/>
              <a:r>
                <a:rPr lang="en-US" sz="2400" dirty="0">
                  <a:solidFill>
                    <a:srgbClr val="000000"/>
                  </a:solidFill>
                  <a:latin typeface="Arial"/>
                  <a:ea typeface="Arial"/>
                  <a:cs typeface="Arial"/>
                  <a:sym typeface="Arial"/>
                </a:rPr>
                <a:t>Position: [N, S, E, W green times].                                                          |             Velocity: Random, e.g., [3, -2, 1, -1] for Particle 1</a:t>
              </a:r>
            </a:p>
            <a:p>
              <a:pPr marL="380047" lvl="1" algn="just"/>
              <a:endParaRPr lang="en-US" sz="2400" dirty="0">
                <a:solidFill>
                  <a:srgbClr val="000000"/>
                </a:solidFill>
                <a:latin typeface="Arial"/>
                <a:ea typeface="Arial"/>
                <a:cs typeface="Arial"/>
                <a:sym typeface="Arial"/>
              </a:endParaRPr>
            </a:p>
          </p:txBody>
        </p:sp>
      </p:grpSp>
      <p:grpSp>
        <p:nvGrpSpPr>
          <p:cNvPr id="10" name="Group 10"/>
          <p:cNvGrpSpPr/>
          <p:nvPr/>
        </p:nvGrpSpPr>
        <p:grpSpPr>
          <a:xfrm>
            <a:off x="13106400" y="9534530"/>
            <a:ext cx="4267200" cy="547688"/>
            <a:chOff x="0" y="0"/>
            <a:chExt cx="5689600" cy="730250"/>
          </a:xfrm>
        </p:grpSpPr>
        <p:sp>
          <p:nvSpPr>
            <p:cNvPr id="11" name="Freeform 11"/>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solidFill>
              <a:srgbClr val="000000">
                <a:alpha val="0"/>
              </a:srgbClr>
            </a:solidFill>
          </p:spPr>
          <p:txBody>
            <a:bodyPr/>
            <a:lstStyle/>
            <a:p>
              <a:endParaRPr lang="en-IN"/>
            </a:p>
          </p:txBody>
        </p:sp>
        <p:sp>
          <p:nvSpPr>
            <p:cNvPr id="12" name="TextBox 12"/>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2</a:t>
              </a:r>
            </a:p>
          </p:txBody>
        </p:sp>
      </p:grpSp>
      <p:grpSp>
        <p:nvGrpSpPr>
          <p:cNvPr id="13" name="Group 13"/>
          <p:cNvGrpSpPr/>
          <p:nvPr/>
        </p:nvGrpSpPr>
        <p:grpSpPr>
          <a:xfrm>
            <a:off x="6972300" y="9534530"/>
            <a:ext cx="4806000" cy="547688"/>
            <a:chOff x="0" y="0"/>
            <a:chExt cx="6408000" cy="730250"/>
          </a:xfrm>
        </p:grpSpPr>
        <p:sp>
          <p:nvSpPr>
            <p:cNvPr id="14" name="Freeform 14"/>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solidFill>
              <a:srgbClr val="000000">
                <a:alpha val="0"/>
              </a:srgbClr>
            </a:solidFill>
          </p:spPr>
          <p:txBody>
            <a:bodyPr/>
            <a:lstStyle/>
            <a:p>
              <a:endParaRPr lang="en-IN"/>
            </a:p>
          </p:txBody>
        </p:sp>
        <p:sp>
          <p:nvSpPr>
            <p:cNvPr id="15" name="TextBox 15"/>
            <p:cNvSpPr txBox="1"/>
            <p:nvPr/>
          </p:nvSpPr>
          <p:spPr>
            <a:xfrm>
              <a:off x="0" y="-19050"/>
              <a:ext cx="6408000"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@Hack4Industry Elimination Round- Template</a:t>
              </a:r>
            </a:p>
          </p:txBody>
        </p:sp>
      </p:grpSp>
      <p:grpSp>
        <p:nvGrpSpPr>
          <p:cNvPr id="16" name="Group 16"/>
          <p:cNvGrpSpPr/>
          <p:nvPr/>
        </p:nvGrpSpPr>
        <p:grpSpPr>
          <a:xfrm>
            <a:off x="475610" y="359319"/>
            <a:ext cx="1915886" cy="1249101"/>
            <a:chOff x="0" y="0"/>
            <a:chExt cx="2554514" cy="1665468"/>
          </a:xfrm>
        </p:grpSpPr>
        <p:sp>
          <p:nvSpPr>
            <p:cNvPr id="17" name="Freeform 17" descr="Your startup LOGO"/>
            <p:cNvSpPr/>
            <p:nvPr/>
          </p:nvSpPr>
          <p:spPr>
            <a:xfrm>
              <a:off x="25400" y="25400"/>
              <a:ext cx="2503678" cy="1614678"/>
            </a:xfrm>
            <a:custGeom>
              <a:avLst/>
              <a:gdLst/>
              <a:ahLst/>
              <a:cxnLst/>
              <a:rect l="l" t="t" r="r" b="b"/>
              <a:pathLst>
                <a:path w="2503678" h="1614678">
                  <a:moveTo>
                    <a:pt x="0" y="807339"/>
                  </a:moveTo>
                  <a:cubicBezTo>
                    <a:pt x="0" y="361442"/>
                    <a:pt x="560451" y="0"/>
                    <a:pt x="1251839" y="0"/>
                  </a:cubicBezTo>
                  <a:cubicBezTo>
                    <a:pt x="1943227" y="0"/>
                    <a:pt x="2503678" y="361442"/>
                    <a:pt x="2503678" y="807339"/>
                  </a:cubicBezTo>
                  <a:cubicBezTo>
                    <a:pt x="2503678" y="1253236"/>
                    <a:pt x="1943227" y="1614678"/>
                    <a:pt x="1251839" y="1614678"/>
                  </a:cubicBezTo>
                  <a:cubicBezTo>
                    <a:pt x="560451" y="1614678"/>
                    <a:pt x="0" y="1253236"/>
                    <a:pt x="0" y="807339"/>
                  </a:cubicBezTo>
                  <a:close/>
                </a:path>
              </a:pathLst>
            </a:custGeom>
            <a:solidFill>
              <a:srgbClr val="FFFFFF"/>
            </a:solidFill>
          </p:spPr>
          <p:txBody>
            <a:bodyPr/>
            <a:lstStyle/>
            <a:p>
              <a:endParaRPr lang="en-IN"/>
            </a:p>
          </p:txBody>
        </p:sp>
        <p:sp>
          <p:nvSpPr>
            <p:cNvPr id="18" name="Freeform 18" descr="Your startup LOGO"/>
            <p:cNvSpPr/>
            <p:nvPr/>
          </p:nvSpPr>
          <p:spPr>
            <a:xfrm>
              <a:off x="0" y="0"/>
              <a:ext cx="2554478" cy="1665478"/>
            </a:xfrm>
            <a:custGeom>
              <a:avLst/>
              <a:gdLst/>
              <a:ahLst/>
              <a:cxnLst/>
              <a:rect l="l" t="t" r="r" b="b"/>
              <a:pathLst>
                <a:path w="2554478" h="1665478">
                  <a:moveTo>
                    <a:pt x="0" y="832739"/>
                  </a:moveTo>
                  <a:cubicBezTo>
                    <a:pt x="0" y="363855"/>
                    <a:pt x="583057" y="0"/>
                    <a:pt x="1277239" y="0"/>
                  </a:cubicBezTo>
                  <a:cubicBezTo>
                    <a:pt x="1971421" y="0"/>
                    <a:pt x="2554478" y="363855"/>
                    <a:pt x="2554478" y="832739"/>
                  </a:cubicBezTo>
                  <a:lnTo>
                    <a:pt x="2529078" y="832739"/>
                  </a:lnTo>
                  <a:lnTo>
                    <a:pt x="2554478" y="832739"/>
                  </a:lnTo>
                  <a:cubicBezTo>
                    <a:pt x="2554478" y="1301623"/>
                    <a:pt x="1971421" y="1665478"/>
                    <a:pt x="1277239" y="1665478"/>
                  </a:cubicBezTo>
                  <a:lnTo>
                    <a:pt x="1277239" y="1640078"/>
                  </a:lnTo>
                  <a:lnTo>
                    <a:pt x="1277239" y="1665478"/>
                  </a:lnTo>
                  <a:cubicBezTo>
                    <a:pt x="583057" y="1665478"/>
                    <a:pt x="0" y="1301623"/>
                    <a:pt x="0" y="832739"/>
                  </a:cubicBezTo>
                  <a:lnTo>
                    <a:pt x="25400" y="832739"/>
                  </a:lnTo>
                  <a:lnTo>
                    <a:pt x="50800" y="832739"/>
                  </a:lnTo>
                  <a:lnTo>
                    <a:pt x="25400" y="832739"/>
                  </a:lnTo>
                  <a:lnTo>
                    <a:pt x="0" y="832739"/>
                  </a:lnTo>
                  <a:moveTo>
                    <a:pt x="50800" y="832739"/>
                  </a:moveTo>
                  <a:cubicBezTo>
                    <a:pt x="50800" y="846709"/>
                    <a:pt x="39370" y="858139"/>
                    <a:pt x="25400" y="858139"/>
                  </a:cubicBezTo>
                  <a:cubicBezTo>
                    <a:pt x="11430" y="858139"/>
                    <a:pt x="0" y="846709"/>
                    <a:pt x="0" y="832739"/>
                  </a:cubicBezTo>
                  <a:cubicBezTo>
                    <a:pt x="0" y="818769"/>
                    <a:pt x="11430" y="807339"/>
                    <a:pt x="25400" y="807339"/>
                  </a:cubicBezTo>
                  <a:cubicBezTo>
                    <a:pt x="39370" y="807339"/>
                    <a:pt x="50800" y="818769"/>
                    <a:pt x="50800" y="832739"/>
                  </a:cubicBezTo>
                  <a:cubicBezTo>
                    <a:pt x="50800" y="1255522"/>
                    <a:pt x="588772" y="1614678"/>
                    <a:pt x="1277239" y="1614678"/>
                  </a:cubicBezTo>
                  <a:cubicBezTo>
                    <a:pt x="1965706" y="1614678"/>
                    <a:pt x="2503678" y="1255522"/>
                    <a:pt x="2503678" y="832739"/>
                  </a:cubicBezTo>
                  <a:cubicBezTo>
                    <a:pt x="2503678" y="409956"/>
                    <a:pt x="1965833" y="50800"/>
                    <a:pt x="1277239" y="50800"/>
                  </a:cubicBezTo>
                  <a:lnTo>
                    <a:pt x="1277239" y="25400"/>
                  </a:lnTo>
                  <a:lnTo>
                    <a:pt x="1277239" y="50800"/>
                  </a:lnTo>
                  <a:cubicBezTo>
                    <a:pt x="588772" y="50800"/>
                    <a:pt x="50800" y="409956"/>
                    <a:pt x="50800" y="832739"/>
                  </a:cubicBezTo>
                  <a:close/>
                </a:path>
              </a:pathLst>
            </a:custGeom>
            <a:solidFill>
              <a:srgbClr val="8064A2"/>
            </a:solidFill>
          </p:spPr>
          <p:txBody>
            <a:bodyPr/>
            <a:lstStyle/>
            <a:p>
              <a:endParaRPr lang="en-IN"/>
            </a:p>
          </p:txBody>
        </p:sp>
        <p:sp>
          <p:nvSpPr>
            <p:cNvPr id="19" name="TextBox 19"/>
            <p:cNvSpPr txBox="1"/>
            <p:nvPr/>
          </p:nvSpPr>
          <p:spPr>
            <a:xfrm>
              <a:off x="0" y="-57150"/>
              <a:ext cx="2554514" cy="1722618"/>
            </a:xfrm>
            <a:prstGeom prst="rect">
              <a:avLst/>
            </a:prstGeom>
          </p:spPr>
          <p:txBody>
            <a:bodyPr lIns="50800" tIns="50800" rIns="50800" bIns="50800" rtlCol="0" anchor="ctr"/>
            <a:lstStyle/>
            <a:p>
              <a:pPr algn="ctr">
                <a:lnSpc>
                  <a:spcPts val="3240"/>
                </a:lnSpc>
              </a:pPr>
              <a:r>
                <a:rPr lang="en-US" sz="2700" dirty="0">
                  <a:solidFill>
                    <a:srgbClr val="000000"/>
                  </a:solidFill>
                  <a:latin typeface="Calibri (MS)"/>
                  <a:ea typeface="Calibri (MS)"/>
                  <a:cs typeface="Calibri (MS)"/>
                  <a:sym typeface="Calibri (MS)"/>
                </a:rPr>
                <a:t>Team </a:t>
              </a:r>
              <a:r>
                <a:rPr lang="en-US" sz="2700" dirty="0" err="1">
                  <a:solidFill>
                    <a:srgbClr val="000000"/>
                  </a:solidFill>
                  <a:latin typeface="Calibri (MS)"/>
                  <a:ea typeface="Calibri (MS)"/>
                  <a:cs typeface="Calibri (MS)"/>
                  <a:sym typeface="Calibri (MS)"/>
                </a:rPr>
                <a:t>Omniscients</a:t>
              </a:r>
              <a:endParaRPr lang="en-US" sz="2700" dirty="0">
                <a:solidFill>
                  <a:srgbClr val="000000"/>
                </a:solidFill>
                <a:latin typeface="Calibri (MS)"/>
                <a:ea typeface="Calibri (MS)"/>
                <a:cs typeface="Calibri (MS)"/>
                <a:sym typeface="Calibri (MS)"/>
              </a:endParaRPr>
            </a:p>
          </p:txBody>
        </p:sp>
      </p:grpSp>
      <p:sp>
        <p:nvSpPr>
          <p:cNvPr id="20" name="Freeform 20"/>
          <p:cNvSpPr/>
          <p:nvPr/>
        </p:nvSpPr>
        <p:spPr>
          <a:xfrm>
            <a:off x="16145568" y="0"/>
            <a:ext cx="2053284" cy="2657973"/>
          </a:xfrm>
          <a:custGeom>
            <a:avLst/>
            <a:gdLst/>
            <a:ahLst/>
            <a:cxnLst/>
            <a:rect l="l" t="t" r="r" b="b"/>
            <a:pathLst>
              <a:path w="2053284" h="2657973">
                <a:moveTo>
                  <a:pt x="0" y="0"/>
                </a:moveTo>
                <a:lnTo>
                  <a:pt x="2053284" y="0"/>
                </a:lnTo>
                <a:lnTo>
                  <a:pt x="2053284" y="2657973"/>
                </a:lnTo>
                <a:lnTo>
                  <a:pt x="0" y="2657973"/>
                </a:lnTo>
                <a:lnTo>
                  <a:pt x="0" y="0"/>
                </a:lnTo>
                <a:close/>
              </a:path>
            </a:pathLst>
          </a:custGeom>
          <a:blipFill>
            <a:blip r:embed="rId3"/>
            <a:stretch>
              <a:fillRect/>
            </a:stretch>
          </a:blipFill>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3"/>
            <a:ext cx="18287998" cy="754857"/>
            <a:chOff x="0" y="0"/>
            <a:chExt cx="24383998" cy="1006476"/>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txBody>
            <a:bodyPr/>
            <a:lstStyle/>
            <a:p>
              <a:endParaRPr lang="en-IN"/>
            </a:p>
          </p:txBody>
        </p:sp>
      </p:grpSp>
      <p:grpSp>
        <p:nvGrpSpPr>
          <p:cNvPr id="4" name="Group 4"/>
          <p:cNvGrpSpPr/>
          <p:nvPr/>
        </p:nvGrpSpPr>
        <p:grpSpPr>
          <a:xfrm>
            <a:off x="914400" y="-71438"/>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solidFill>
              <a:srgbClr val="000000">
                <a:alpha val="0"/>
              </a:srgbClr>
            </a:solidFill>
          </p:spPr>
          <p:txBody>
            <a:bodyPr/>
            <a:lstStyle/>
            <a:p>
              <a:endParaRPr lang="en-IN"/>
            </a:p>
          </p:txBody>
        </p:sp>
        <p:sp>
          <p:nvSpPr>
            <p:cNvPr id="6" name="TextBox 6"/>
            <p:cNvSpPr txBox="1"/>
            <p:nvPr/>
          </p:nvSpPr>
          <p:spPr>
            <a:xfrm>
              <a:off x="0" y="-104775"/>
              <a:ext cx="21945600" cy="2390775"/>
            </a:xfrm>
            <a:prstGeom prst="rect">
              <a:avLst/>
            </a:prstGeom>
          </p:spPr>
          <p:txBody>
            <a:bodyPr lIns="0" tIns="0" rIns="0" bIns="0" rtlCol="0" anchor="ctr"/>
            <a:lstStyle/>
            <a:p>
              <a:pPr algn="ctr">
                <a:lnSpc>
                  <a:spcPts val="6480"/>
                </a:lnSpc>
              </a:pPr>
              <a:endParaRPr lang="en-US" sz="5400" b="1" dirty="0">
                <a:solidFill>
                  <a:srgbClr val="000000"/>
                </a:solidFill>
                <a:latin typeface="Times New Roman Bold"/>
                <a:ea typeface="Times New Roman Bold"/>
                <a:cs typeface="Times New Roman Bold"/>
                <a:sym typeface="Times New Roman Bold"/>
              </a:endParaRPr>
            </a:p>
          </p:txBody>
        </p:sp>
      </p:grpSp>
      <p:sp>
        <p:nvSpPr>
          <p:cNvPr id="9" name="TextBox 9"/>
          <p:cNvSpPr txBox="1"/>
          <p:nvPr/>
        </p:nvSpPr>
        <p:spPr>
          <a:xfrm>
            <a:off x="877731" y="3314700"/>
            <a:ext cx="14077950" cy="2788117"/>
          </a:xfrm>
          <a:prstGeom prst="rect">
            <a:avLst/>
          </a:prstGeom>
        </p:spPr>
        <p:txBody>
          <a:bodyPr lIns="0" tIns="0" rIns="0" bIns="0" rtlCol="0" anchor="t"/>
          <a:lstStyle/>
          <a:p>
            <a:pPr marL="760095" lvl="1" indent="-380048" algn="just">
              <a:lnSpc>
                <a:spcPts val="5040"/>
              </a:lnSpc>
              <a:buFont typeface="Arial"/>
              <a:buChar char="•"/>
            </a:pPr>
            <a:endParaRPr lang="en-US" sz="2400" dirty="0">
              <a:solidFill>
                <a:srgbClr val="000000"/>
              </a:solidFill>
              <a:latin typeface="Arial"/>
              <a:ea typeface="Arial"/>
              <a:cs typeface="Arial"/>
              <a:sym typeface="Arial"/>
            </a:endParaRPr>
          </a:p>
        </p:txBody>
      </p:sp>
      <p:grpSp>
        <p:nvGrpSpPr>
          <p:cNvPr id="10" name="Group 10"/>
          <p:cNvGrpSpPr/>
          <p:nvPr/>
        </p:nvGrpSpPr>
        <p:grpSpPr>
          <a:xfrm>
            <a:off x="13106400" y="9534530"/>
            <a:ext cx="4267200" cy="547688"/>
            <a:chOff x="0" y="0"/>
            <a:chExt cx="5689600" cy="730250"/>
          </a:xfrm>
        </p:grpSpPr>
        <p:sp>
          <p:nvSpPr>
            <p:cNvPr id="11" name="Freeform 11"/>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solidFill>
              <a:srgbClr val="000000">
                <a:alpha val="0"/>
              </a:srgbClr>
            </a:solidFill>
          </p:spPr>
          <p:txBody>
            <a:bodyPr/>
            <a:lstStyle/>
            <a:p>
              <a:endParaRPr lang="en-IN"/>
            </a:p>
          </p:txBody>
        </p:sp>
        <p:sp>
          <p:nvSpPr>
            <p:cNvPr id="12" name="TextBox 12"/>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3</a:t>
              </a:r>
            </a:p>
          </p:txBody>
        </p:sp>
      </p:grpSp>
      <p:grpSp>
        <p:nvGrpSpPr>
          <p:cNvPr id="13" name="Group 13"/>
          <p:cNvGrpSpPr/>
          <p:nvPr/>
        </p:nvGrpSpPr>
        <p:grpSpPr>
          <a:xfrm>
            <a:off x="475610" y="359319"/>
            <a:ext cx="1915886" cy="1249101"/>
            <a:chOff x="0" y="0"/>
            <a:chExt cx="2554514" cy="1665468"/>
          </a:xfrm>
        </p:grpSpPr>
        <p:sp>
          <p:nvSpPr>
            <p:cNvPr id="14" name="Freeform 14" descr="Your startup LOGO"/>
            <p:cNvSpPr/>
            <p:nvPr/>
          </p:nvSpPr>
          <p:spPr>
            <a:xfrm>
              <a:off x="25400" y="25400"/>
              <a:ext cx="2503678" cy="1614678"/>
            </a:xfrm>
            <a:custGeom>
              <a:avLst/>
              <a:gdLst/>
              <a:ahLst/>
              <a:cxnLst/>
              <a:rect l="l" t="t" r="r" b="b"/>
              <a:pathLst>
                <a:path w="2503678" h="1614678">
                  <a:moveTo>
                    <a:pt x="0" y="807339"/>
                  </a:moveTo>
                  <a:cubicBezTo>
                    <a:pt x="0" y="361442"/>
                    <a:pt x="560451" y="0"/>
                    <a:pt x="1251839" y="0"/>
                  </a:cubicBezTo>
                  <a:cubicBezTo>
                    <a:pt x="1943227" y="0"/>
                    <a:pt x="2503678" y="361442"/>
                    <a:pt x="2503678" y="807339"/>
                  </a:cubicBezTo>
                  <a:cubicBezTo>
                    <a:pt x="2503678" y="1253236"/>
                    <a:pt x="1943227" y="1614678"/>
                    <a:pt x="1251839" y="1614678"/>
                  </a:cubicBezTo>
                  <a:cubicBezTo>
                    <a:pt x="560451" y="1614678"/>
                    <a:pt x="0" y="1253236"/>
                    <a:pt x="0" y="807339"/>
                  </a:cubicBezTo>
                  <a:close/>
                </a:path>
              </a:pathLst>
            </a:custGeom>
            <a:solidFill>
              <a:srgbClr val="FFFFFF"/>
            </a:solidFill>
          </p:spPr>
          <p:txBody>
            <a:bodyPr/>
            <a:lstStyle/>
            <a:p>
              <a:endParaRPr lang="en-IN"/>
            </a:p>
          </p:txBody>
        </p:sp>
        <p:sp>
          <p:nvSpPr>
            <p:cNvPr id="15" name="Freeform 15" descr="Your startup LOGO"/>
            <p:cNvSpPr/>
            <p:nvPr/>
          </p:nvSpPr>
          <p:spPr>
            <a:xfrm>
              <a:off x="0" y="0"/>
              <a:ext cx="2554478" cy="1665478"/>
            </a:xfrm>
            <a:custGeom>
              <a:avLst/>
              <a:gdLst/>
              <a:ahLst/>
              <a:cxnLst/>
              <a:rect l="l" t="t" r="r" b="b"/>
              <a:pathLst>
                <a:path w="2554478" h="1665478">
                  <a:moveTo>
                    <a:pt x="0" y="832739"/>
                  </a:moveTo>
                  <a:cubicBezTo>
                    <a:pt x="0" y="363855"/>
                    <a:pt x="583057" y="0"/>
                    <a:pt x="1277239" y="0"/>
                  </a:cubicBezTo>
                  <a:cubicBezTo>
                    <a:pt x="1971421" y="0"/>
                    <a:pt x="2554478" y="363855"/>
                    <a:pt x="2554478" y="832739"/>
                  </a:cubicBezTo>
                  <a:lnTo>
                    <a:pt x="2529078" y="832739"/>
                  </a:lnTo>
                  <a:lnTo>
                    <a:pt x="2554478" y="832739"/>
                  </a:lnTo>
                  <a:cubicBezTo>
                    <a:pt x="2554478" y="1301623"/>
                    <a:pt x="1971421" y="1665478"/>
                    <a:pt x="1277239" y="1665478"/>
                  </a:cubicBezTo>
                  <a:lnTo>
                    <a:pt x="1277239" y="1640078"/>
                  </a:lnTo>
                  <a:lnTo>
                    <a:pt x="1277239" y="1665478"/>
                  </a:lnTo>
                  <a:cubicBezTo>
                    <a:pt x="583057" y="1665478"/>
                    <a:pt x="0" y="1301623"/>
                    <a:pt x="0" y="832739"/>
                  </a:cubicBezTo>
                  <a:lnTo>
                    <a:pt x="25400" y="832739"/>
                  </a:lnTo>
                  <a:lnTo>
                    <a:pt x="50800" y="832739"/>
                  </a:lnTo>
                  <a:lnTo>
                    <a:pt x="25400" y="832739"/>
                  </a:lnTo>
                  <a:lnTo>
                    <a:pt x="0" y="832739"/>
                  </a:lnTo>
                  <a:moveTo>
                    <a:pt x="50800" y="832739"/>
                  </a:moveTo>
                  <a:cubicBezTo>
                    <a:pt x="50800" y="846709"/>
                    <a:pt x="39370" y="858139"/>
                    <a:pt x="25400" y="858139"/>
                  </a:cubicBezTo>
                  <a:cubicBezTo>
                    <a:pt x="11430" y="858139"/>
                    <a:pt x="0" y="846709"/>
                    <a:pt x="0" y="832739"/>
                  </a:cubicBezTo>
                  <a:cubicBezTo>
                    <a:pt x="0" y="818769"/>
                    <a:pt x="11430" y="807339"/>
                    <a:pt x="25400" y="807339"/>
                  </a:cubicBezTo>
                  <a:cubicBezTo>
                    <a:pt x="39370" y="807339"/>
                    <a:pt x="50800" y="818769"/>
                    <a:pt x="50800" y="832739"/>
                  </a:cubicBezTo>
                  <a:cubicBezTo>
                    <a:pt x="50800" y="1255522"/>
                    <a:pt x="588772" y="1614678"/>
                    <a:pt x="1277239" y="1614678"/>
                  </a:cubicBezTo>
                  <a:cubicBezTo>
                    <a:pt x="1965706" y="1614678"/>
                    <a:pt x="2503678" y="1255522"/>
                    <a:pt x="2503678" y="832739"/>
                  </a:cubicBezTo>
                  <a:cubicBezTo>
                    <a:pt x="2503678" y="409956"/>
                    <a:pt x="1965833" y="50800"/>
                    <a:pt x="1277239" y="50800"/>
                  </a:cubicBezTo>
                  <a:lnTo>
                    <a:pt x="1277239" y="25400"/>
                  </a:lnTo>
                  <a:lnTo>
                    <a:pt x="1277239" y="50800"/>
                  </a:lnTo>
                  <a:cubicBezTo>
                    <a:pt x="588772" y="50800"/>
                    <a:pt x="50800" y="409956"/>
                    <a:pt x="50800" y="832739"/>
                  </a:cubicBezTo>
                  <a:close/>
                </a:path>
              </a:pathLst>
            </a:custGeom>
            <a:solidFill>
              <a:srgbClr val="8064A2"/>
            </a:solidFill>
          </p:spPr>
          <p:txBody>
            <a:bodyPr/>
            <a:lstStyle/>
            <a:p>
              <a:endParaRPr lang="en-IN"/>
            </a:p>
          </p:txBody>
        </p:sp>
        <p:sp>
          <p:nvSpPr>
            <p:cNvPr id="16" name="TextBox 16"/>
            <p:cNvSpPr txBox="1"/>
            <p:nvPr/>
          </p:nvSpPr>
          <p:spPr>
            <a:xfrm>
              <a:off x="0" y="-57150"/>
              <a:ext cx="2554514" cy="1722618"/>
            </a:xfrm>
            <a:prstGeom prst="rect">
              <a:avLst/>
            </a:prstGeom>
          </p:spPr>
          <p:txBody>
            <a:bodyPr lIns="50800" tIns="50800" rIns="50800" bIns="50800" rtlCol="0" anchor="ctr"/>
            <a:lstStyle/>
            <a:p>
              <a:pPr algn="ctr">
                <a:lnSpc>
                  <a:spcPts val="3240"/>
                </a:lnSpc>
              </a:pPr>
              <a:r>
                <a:rPr lang="en-US" sz="2700" dirty="0">
                  <a:solidFill>
                    <a:srgbClr val="000000"/>
                  </a:solidFill>
                  <a:latin typeface="Calibri (MS)"/>
                  <a:ea typeface="Calibri (MS)"/>
                  <a:cs typeface="Calibri (MS)"/>
                  <a:sym typeface="Calibri (MS)"/>
                </a:rPr>
                <a:t>Team </a:t>
              </a:r>
              <a:r>
                <a:rPr lang="en-US" sz="2700" dirty="0" err="1">
                  <a:solidFill>
                    <a:srgbClr val="000000"/>
                  </a:solidFill>
                  <a:latin typeface="Calibri (MS)"/>
                  <a:ea typeface="Calibri (MS)"/>
                  <a:cs typeface="Calibri (MS)"/>
                  <a:sym typeface="Calibri (MS)"/>
                </a:rPr>
                <a:t>Omniscients</a:t>
              </a:r>
              <a:endParaRPr lang="en-US" sz="2700" dirty="0">
                <a:solidFill>
                  <a:srgbClr val="000000"/>
                </a:solidFill>
                <a:latin typeface="Calibri (MS)"/>
                <a:ea typeface="Calibri (MS)"/>
                <a:cs typeface="Calibri (MS)"/>
                <a:sym typeface="Calibri (MS)"/>
              </a:endParaRPr>
            </a:p>
          </p:txBody>
        </p:sp>
      </p:grpSp>
      <p:grpSp>
        <p:nvGrpSpPr>
          <p:cNvPr id="17" name="Group 17"/>
          <p:cNvGrpSpPr/>
          <p:nvPr/>
        </p:nvGrpSpPr>
        <p:grpSpPr>
          <a:xfrm>
            <a:off x="6972300" y="9534530"/>
            <a:ext cx="4806000" cy="547688"/>
            <a:chOff x="0" y="0"/>
            <a:chExt cx="6408000" cy="730250"/>
          </a:xfrm>
        </p:grpSpPr>
        <p:sp>
          <p:nvSpPr>
            <p:cNvPr id="18" name="Freeform 18"/>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solidFill>
              <a:srgbClr val="000000">
                <a:alpha val="0"/>
              </a:srgbClr>
            </a:solidFill>
          </p:spPr>
          <p:txBody>
            <a:bodyPr/>
            <a:lstStyle/>
            <a:p>
              <a:endParaRPr lang="en-IN"/>
            </a:p>
          </p:txBody>
        </p:sp>
        <p:sp>
          <p:nvSpPr>
            <p:cNvPr id="19" name="TextBox 19"/>
            <p:cNvSpPr txBox="1"/>
            <p:nvPr/>
          </p:nvSpPr>
          <p:spPr>
            <a:xfrm>
              <a:off x="0" y="-19050"/>
              <a:ext cx="6408000"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@Hack4Industry Elimination Round- Template</a:t>
              </a:r>
            </a:p>
          </p:txBody>
        </p:sp>
      </p:grpSp>
      <p:sp>
        <p:nvSpPr>
          <p:cNvPr id="20" name="Freeform 20"/>
          <p:cNvSpPr/>
          <p:nvPr/>
        </p:nvSpPr>
        <p:spPr>
          <a:xfrm>
            <a:off x="16145568" y="0"/>
            <a:ext cx="2053284" cy="2657973"/>
          </a:xfrm>
          <a:custGeom>
            <a:avLst/>
            <a:gdLst/>
            <a:ahLst/>
            <a:cxnLst/>
            <a:rect l="l" t="t" r="r" b="b"/>
            <a:pathLst>
              <a:path w="2053284" h="2657973">
                <a:moveTo>
                  <a:pt x="0" y="0"/>
                </a:moveTo>
                <a:lnTo>
                  <a:pt x="2053284" y="0"/>
                </a:lnTo>
                <a:lnTo>
                  <a:pt x="2053284" y="2657973"/>
                </a:lnTo>
                <a:lnTo>
                  <a:pt x="0" y="2657973"/>
                </a:lnTo>
                <a:lnTo>
                  <a:pt x="0" y="0"/>
                </a:lnTo>
                <a:close/>
              </a:path>
            </a:pathLst>
          </a:custGeom>
          <a:blipFill>
            <a:blip r:embed="rId3"/>
            <a:stretch>
              <a:fillRect/>
            </a:stretch>
          </a:blipFill>
        </p:spPr>
        <p:txBody>
          <a:bodyPr/>
          <a:lstStyle/>
          <a:p>
            <a:endParaRPr lang="en-IN"/>
          </a:p>
        </p:txBody>
      </p:sp>
      <p:sp>
        <p:nvSpPr>
          <p:cNvPr id="21" name="TextBox 20">
            <a:extLst>
              <a:ext uri="{FF2B5EF4-FFF2-40B4-BE49-F238E27FC236}">
                <a16:creationId xmlns:a16="http://schemas.microsoft.com/office/drawing/2014/main" id="{F63BF92E-BFC1-B1EB-22DF-B175B2AED78A}"/>
              </a:ext>
            </a:extLst>
          </p:cNvPr>
          <p:cNvSpPr txBox="1"/>
          <p:nvPr/>
        </p:nvSpPr>
        <p:spPr>
          <a:xfrm>
            <a:off x="1371600" y="1485900"/>
            <a:ext cx="15316199" cy="8586966"/>
          </a:xfrm>
          <a:prstGeom prst="rect">
            <a:avLst/>
          </a:prstGeom>
          <a:noFill/>
        </p:spPr>
        <p:txBody>
          <a:bodyPr wrap="square" rtlCol="0">
            <a:spAutoFit/>
          </a:bodyPr>
          <a:lstStyle/>
          <a:p>
            <a:pPr marL="342900" indent="-342900">
              <a:buFont typeface="Arial" panose="020B0604020202020204" pitchFamily="34" charset="0"/>
              <a:buChar char="•"/>
            </a:pPr>
            <a:r>
              <a:rPr lang="en-US" sz="2400" b="1" dirty="0">
                <a:latin typeface="Arial" panose="020B0604020202020204" pitchFamily="34" charset="0"/>
                <a:cs typeface="Arial" panose="020B0604020202020204" pitchFamily="34" charset="0"/>
              </a:rPr>
              <a:t>Evaluate Fitness with Computer Vision</a:t>
            </a:r>
          </a:p>
          <a:p>
            <a:r>
              <a:rPr lang="en-US" sz="2400" dirty="0">
                <a:latin typeface="Arial" panose="020B0604020202020204" pitchFamily="34" charset="0"/>
                <a:cs typeface="Arial" panose="020B0604020202020204" pitchFamily="34" charset="0"/>
              </a:rPr>
              <a:t>Input: Cameras predict arrivals (e.g., 160 trucks from North in 25s at 40 km/h).</a:t>
            </a: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Example: Particle 1 [50, 30, 20, 25]:</a:t>
            </a:r>
          </a:p>
          <a:p>
            <a:r>
              <a:rPr lang="en-US" sz="2400" dirty="0">
                <a:latin typeface="Arial" panose="020B0604020202020204" pitchFamily="34" charset="0"/>
                <a:cs typeface="Arial" panose="020B0604020202020204" pitchFamily="34" charset="0"/>
              </a:rPr>
              <a:t>--&gt; Simulated delays: N = 30s, S = 45s, E = 65s, W = 60s, truck delay = 50s.</a:t>
            </a:r>
          </a:p>
          <a:p>
            <a:r>
              <a:rPr lang="en-US" sz="2400" dirty="0">
                <a:latin typeface="Arial" panose="020B0604020202020204" pitchFamily="34" charset="0"/>
                <a:cs typeface="Arial" panose="020B0604020202020204" pitchFamily="34" charset="0"/>
              </a:rPr>
              <a:t>--&gt; Cost = (30 × 400) + (45 × 300) + (65 × 200) + (60 × 150) + (3 × 50) = 12,000 + 13,500 + 13,000 + 9,000 + 150 = 47,650.</a:t>
            </a:r>
          </a:p>
          <a:p>
            <a:endParaRPr lang="en-US" sz="24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à"/>
            </a:pPr>
            <a:r>
              <a:rPr lang="en-US" sz="2400" dirty="0">
                <a:latin typeface="Arial" panose="020B0604020202020204" pitchFamily="34" charset="0"/>
                <a:cs typeface="Arial" panose="020B0604020202020204" pitchFamily="34" charset="0"/>
              </a:rPr>
              <a:t>Initial G(best): Particle 2 [60, 25, 30, 20], cost = 45,200.</a:t>
            </a:r>
          </a:p>
          <a:p>
            <a:pPr marL="342900" indent="-342900">
              <a:buFont typeface="Wingdings" panose="05000000000000000000" pitchFamily="2" charset="2"/>
              <a:buChar char="à"/>
            </a:pPr>
            <a:endParaRPr lang="en-US" sz="24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à"/>
            </a:pPr>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IN" sz="2400" b="1" dirty="0">
                <a:latin typeface="Arial" panose="020B0604020202020204" pitchFamily="34" charset="0"/>
                <a:cs typeface="Arial" panose="020B0604020202020204" pitchFamily="34" charset="0"/>
              </a:rPr>
              <a:t>Update Particle Positions and Velocities</a:t>
            </a:r>
          </a:p>
          <a:p>
            <a:endParaRPr lang="en-IN" sz="2400" dirty="0">
              <a:latin typeface="Arial" panose="020B0604020202020204" pitchFamily="34" charset="0"/>
              <a:cs typeface="Arial" panose="020B0604020202020204" pitchFamily="34" charset="0"/>
            </a:endParaRPr>
          </a:p>
          <a:p>
            <a:r>
              <a:rPr lang="en-IN" sz="2400" dirty="0">
                <a:latin typeface="Arial" panose="020B0604020202020204" pitchFamily="34" charset="0"/>
                <a:cs typeface="Arial" panose="020B0604020202020204" pitchFamily="34" charset="0"/>
              </a:rPr>
              <a:t>     Vi(t+1) = </a:t>
            </a:r>
            <a:r>
              <a:rPr lang="en-IN" sz="2400" dirty="0" err="1">
                <a:latin typeface="Arial" panose="020B0604020202020204" pitchFamily="34" charset="0"/>
                <a:cs typeface="Arial" panose="020B0604020202020204" pitchFamily="34" charset="0"/>
              </a:rPr>
              <a:t>w.Vi</a:t>
            </a:r>
            <a:r>
              <a:rPr lang="en-IN" sz="2400" dirty="0">
                <a:latin typeface="Arial" panose="020B0604020202020204" pitchFamily="34" charset="0"/>
                <a:cs typeface="Arial" panose="020B0604020202020204" pitchFamily="34" charset="0"/>
              </a:rPr>
              <a:t>(t) + c1.r1.(P(best)</a:t>
            </a:r>
            <a:r>
              <a:rPr lang="en-IN" sz="2400" dirty="0" err="1">
                <a:latin typeface="Arial" panose="020B0604020202020204" pitchFamily="34" charset="0"/>
                <a:cs typeface="Arial" panose="020B0604020202020204" pitchFamily="34" charset="0"/>
              </a:rPr>
              <a:t>i</a:t>
            </a:r>
            <a:r>
              <a:rPr lang="en-IN" sz="2400" dirty="0">
                <a:latin typeface="Arial" panose="020B0604020202020204" pitchFamily="34" charset="0"/>
                <a:cs typeface="Arial" panose="020B0604020202020204" pitchFamily="34" charset="0"/>
              </a:rPr>
              <a:t> - Xi(t)) + c2.r2.(G(best) - Xi(t))       |   c2 can be increased during truck surge</a:t>
            </a:r>
          </a:p>
          <a:p>
            <a:endParaRPr lang="en-IN" sz="2400" dirty="0">
              <a:latin typeface="Arial" panose="020B0604020202020204" pitchFamily="34" charset="0"/>
              <a:cs typeface="Arial" panose="020B0604020202020204" pitchFamily="34" charset="0"/>
            </a:endParaRPr>
          </a:p>
          <a:p>
            <a:r>
              <a:rPr lang="en-IN" sz="2400" dirty="0">
                <a:latin typeface="Arial" panose="020B0604020202020204" pitchFamily="34" charset="0"/>
                <a:cs typeface="Arial" panose="020B0604020202020204" pitchFamily="34" charset="0"/>
              </a:rPr>
              <a:t>     Xi(t+1) = Xi(t) + Vi(t+1)</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 Iterate and Optimize</a:t>
            </a:r>
          </a:p>
          <a:p>
            <a:pPr marL="342900" indent="-34290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à"/>
            </a:pPr>
            <a:r>
              <a:rPr lang="en-US" sz="2400" b="1" dirty="0">
                <a:latin typeface="Arial" panose="020B0604020202020204" pitchFamily="34" charset="0"/>
                <a:cs typeface="Arial" panose="020B0604020202020204" pitchFamily="34" charset="0"/>
              </a:rPr>
              <a:t>Result: </a:t>
            </a:r>
            <a:r>
              <a:rPr lang="en-US" sz="2400" dirty="0">
                <a:latin typeface="Arial" panose="020B0604020202020204" pitchFamily="34" charset="0"/>
                <a:cs typeface="Arial" panose="020B0604020202020204" pitchFamily="34" charset="0"/>
              </a:rPr>
              <a:t>After 50(say) iterations, G(best) = [65,28,25,22], cost = 42,300 (N = 25s, S = 40s, E = 55s, W = 50s, truck delay = 40s).</a:t>
            </a:r>
          </a:p>
          <a:p>
            <a:r>
              <a:rPr lang="en-US" sz="2400" dirty="0">
                <a:latin typeface="Arial" panose="020B0604020202020204" pitchFamily="34" charset="0"/>
                <a:cs typeface="Arial" panose="020B0604020202020204" pitchFamily="34" charset="0"/>
                <a:sym typeface="Wingdings" panose="05000000000000000000" pitchFamily="2" charset="2"/>
              </a:rPr>
              <a:t></a:t>
            </a:r>
            <a:r>
              <a:rPr lang="en-US" sz="2400" b="1" dirty="0">
                <a:latin typeface="Arial" panose="020B0604020202020204" pitchFamily="34" charset="0"/>
                <a:cs typeface="Arial" panose="020B0604020202020204" pitchFamily="34" charset="0"/>
              </a:rPr>
              <a:t>Coordination: </a:t>
            </a:r>
            <a:r>
              <a:rPr lang="en-US" sz="2400" dirty="0">
                <a:latin typeface="Arial" panose="020B0604020202020204" pitchFamily="34" charset="0"/>
                <a:cs typeface="Arial" panose="020B0604020202020204" pitchFamily="34" charset="0"/>
              </a:rPr>
              <a:t>Adjust adjacent crossings (e.g., refinery gate green at 65s synced with </a:t>
            </a:r>
            <a:r>
              <a:rPr lang="en-US" sz="2400" dirty="0" err="1">
                <a:latin typeface="Arial" panose="020B0604020202020204" pitchFamily="34" charset="0"/>
                <a:cs typeface="Arial" panose="020B0604020202020204" pitchFamily="34" charset="0"/>
              </a:rPr>
              <a:t>Motikhavdi</a:t>
            </a:r>
            <a:r>
              <a:rPr lang="en-US" sz="2400" dirty="0">
                <a:latin typeface="Arial" panose="020B0604020202020204" pitchFamily="34" charset="0"/>
                <a:cs typeface="Arial" panose="020B0604020202020204" pitchFamily="34" charset="0"/>
              </a:rPr>
              <a:t> North).</a:t>
            </a:r>
            <a:endParaRPr lang="en-IN" sz="2400" dirty="0">
              <a:latin typeface="Arial" panose="020B0604020202020204" pitchFamily="34" charset="0"/>
              <a:cs typeface="Arial" panose="020B0604020202020204" pitchFamily="34" charset="0"/>
            </a:endParaRPr>
          </a:p>
          <a:p>
            <a:endParaRPr lang="en-IN" sz="2400" dirty="0">
              <a:latin typeface="Arial" panose="020B0604020202020204" pitchFamily="34" charset="0"/>
              <a:cs typeface="Arial" panose="020B0604020202020204" pitchFamily="34" charset="0"/>
            </a:endParaRPr>
          </a:p>
          <a:p>
            <a:endParaRPr lang="en-IN" sz="2400"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524E9419-AABC-2D84-AFEB-BF001EABED27}"/>
              </a:ext>
            </a:extLst>
          </p:cNvPr>
          <p:cNvGrpSpPr/>
          <p:nvPr/>
        </p:nvGrpSpPr>
        <p:grpSpPr>
          <a:xfrm>
            <a:off x="0" y="9532143"/>
            <a:ext cx="18287998" cy="754857"/>
            <a:chOff x="0" y="0"/>
            <a:chExt cx="24383998" cy="1006476"/>
          </a:xfrm>
        </p:grpSpPr>
        <p:sp>
          <p:nvSpPr>
            <p:cNvPr id="3" name="Freeform 3">
              <a:extLst>
                <a:ext uri="{FF2B5EF4-FFF2-40B4-BE49-F238E27FC236}">
                  <a16:creationId xmlns:a16="http://schemas.microsoft.com/office/drawing/2014/main" id="{F7EB6ABF-A79D-9952-9433-0C9B858C783E}"/>
                </a:ext>
              </a:extLst>
            </p:cNvPr>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txBody>
            <a:bodyPr/>
            <a:lstStyle/>
            <a:p>
              <a:endParaRPr lang="en-IN"/>
            </a:p>
          </p:txBody>
        </p:sp>
      </p:grpSp>
      <p:grpSp>
        <p:nvGrpSpPr>
          <p:cNvPr id="4" name="Group 4">
            <a:extLst>
              <a:ext uri="{FF2B5EF4-FFF2-40B4-BE49-F238E27FC236}">
                <a16:creationId xmlns:a16="http://schemas.microsoft.com/office/drawing/2014/main" id="{CB06E583-6F1E-F9BC-0A57-4FFA0186DB5C}"/>
              </a:ext>
            </a:extLst>
          </p:cNvPr>
          <p:cNvGrpSpPr/>
          <p:nvPr/>
        </p:nvGrpSpPr>
        <p:grpSpPr>
          <a:xfrm>
            <a:off x="510989" y="0"/>
            <a:ext cx="16459200" cy="1714500"/>
            <a:chOff x="0" y="0"/>
            <a:chExt cx="21945600" cy="2286000"/>
          </a:xfrm>
        </p:grpSpPr>
        <p:sp>
          <p:nvSpPr>
            <p:cNvPr id="5" name="Freeform 5">
              <a:extLst>
                <a:ext uri="{FF2B5EF4-FFF2-40B4-BE49-F238E27FC236}">
                  <a16:creationId xmlns:a16="http://schemas.microsoft.com/office/drawing/2014/main" id="{1F78A9DC-EDDA-BA7A-E7F4-94D887080363}"/>
                </a:ext>
              </a:extLst>
            </p:cNvPr>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solidFill>
              <a:srgbClr val="000000">
                <a:alpha val="0"/>
              </a:srgbClr>
            </a:solidFill>
          </p:spPr>
          <p:txBody>
            <a:bodyPr/>
            <a:lstStyle/>
            <a:p>
              <a:endParaRPr lang="en-IN"/>
            </a:p>
          </p:txBody>
        </p:sp>
        <p:sp>
          <p:nvSpPr>
            <p:cNvPr id="6" name="TextBox 6">
              <a:extLst>
                <a:ext uri="{FF2B5EF4-FFF2-40B4-BE49-F238E27FC236}">
                  <a16:creationId xmlns:a16="http://schemas.microsoft.com/office/drawing/2014/main" id="{7B9EBF3E-7BC8-9911-FE8B-C047EEF9D43E}"/>
                </a:ext>
              </a:extLst>
            </p:cNvPr>
            <p:cNvSpPr txBox="1"/>
            <p:nvPr/>
          </p:nvSpPr>
          <p:spPr>
            <a:xfrm>
              <a:off x="0" y="-104775"/>
              <a:ext cx="21945600" cy="2390775"/>
            </a:xfrm>
            <a:prstGeom prst="rect">
              <a:avLst/>
            </a:prstGeom>
          </p:spPr>
          <p:txBody>
            <a:bodyPr lIns="0" tIns="0" rIns="0" bIns="0" rtlCol="0" anchor="ctr"/>
            <a:lstStyle/>
            <a:p>
              <a:pPr algn="ctr">
                <a:lnSpc>
                  <a:spcPts val="6480"/>
                </a:lnSpc>
              </a:pPr>
              <a:r>
                <a:rPr lang="en-US" sz="4400" b="1" dirty="0">
                  <a:solidFill>
                    <a:srgbClr val="000000"/>
                  </a:solidFill>
                  <a:latin typeface="Times New Roman Bold"/>
                  <a:ea typeface="Times New Roman Bold"/>
                  <a:cs typeface="Times New Roman Bold"/>
                  <a:sym typeface="Times New Roman Bold"/>
                </a:rPr>
                <a:t>SIMULATION DESCRIPTION</a:t>
              </a:r>
            </a:p>
          </p:txBody>
        </p:sp>
      </p:grpSp>
      <p:grpSp>
        <p:nvGrpSpPr>
          <p:cNvPr id="7" name="Group 7">
            <a:extLst>
              <a:ext uri="{FF2B5EF4-FFF2-40B4-BE49-F238E27FC236}">
                <a16:creationId xmlns:a16="http://schemas.microsoft.com/office/drawing/2014/main" id="{5D70E93D-8AAA-4698-FDD3-0EBCC38ED136}"/>
              </a:ext>
            </a:extLst>
          </p:cNvPr>
          <p:cNvGrpSpPr/>
          <p:nvPr/>
        </p:nvGrpSpPr>
        <p:grpSpPr>
          <a:xfrm>
            <a:off x="-19050" y="1733550"/>
            <a:ext cx="19069048" cy="7786692"/>
            <a:chOff x="0" y="-326149"/>
            <a:chExt cx="25425398" cy="5796227"/>
          </a:xfrm>
        </p:grpSpPr>
        <p:sp>
          <p:nvSpPr>
            <p:cNvPr id="8" name="Freeform 8">
              <a:extLst>
                <a:ext uri="{FF2B5EF4-FFF2-40B4-BE49-F238E27FC236}">
                  <a16:creationId xmlns:a16="http://schemas.microsoft.com/office/drawing/2014/main" id="{64976C85-2C96-2C5A-5036-3836B05A940B}"/>
                </a:ext>
              </a:extLst>
            </p:cNvPr>
            <p:cNvSpPr/>
            <p:nvPr/>
          </p:nvSpPr>
          <p:spPr>
            <a:xfrm>
              <a:off x="1041400" y="-326149"/>
              <a:ext cx="24383998" cy="5470078"/>
            </a:xfrm>
            <a:custGeom>
              <a:avLst/>
              <a:gdLst/>
              <a:ahLst/>
              <a:cxnLst/>
              <a:rect l="l" t="t" r="r" b="b"/>
              <a:pathLst>
                <a:path w="24383998" h="5470078">
                  <a:moveTo>
                    <a:pt x="0" y="0"/>
                  </a:moveTo>
                  <a:lnTo>
                    <a:pt x="24383998" y="0"/>
                  </a:lnTo>
                  <a:lnTo>
                    <a:pt x="24383998" y="5470078"/>
                  </a:lnTo>
                  <a:lnTo>
                    <a:pt x="0" y="5470078"/>
                  </a:lnTo>
                  <a:close/>
                </a:path>
              </a:pathLst>
            </a:custGeom>
            <a:solidFill>
              <a:srgbClr val="000000">
                <a:alpha val="0"/>
              </a:srgbClr>
            </a:solidFill>
          </p:spPr>
          <p:txBody>
            <a:bodyPr/>
            <a:lstStyle/>
            <a:p>
              <a:pPr marL="457200" indent="-457200">
                <a:buAutoNum type="arabicPeriod"/>
              </a:pPr>
              <a:r>
                <a:rPr lang="en-US" sz="2400" b="1" dirty="0">
                  <a:sym typeface="Wingdings" panose="05000000000000000000" pitchFamily="2" charset="2"/>
                </a:rPr>
                <a:t>Network Structure   </a:t>
              </a:r>
              <a:r>
                <a:rPr lang="en-US" sz="2400" dirty="0">
                  <a:sym typeface="Wingdings" panose="05000000000000000000" pitchFamily="2" charset="2"/>
                </a:rPr>
                <a:t>- 3x3 grid of intersections (9 total intersections) </a:t>
              </a:r>
            </a:p>
            <a:p>
              <a:r>
                <a:rPr lang="en-US" sz="2400" dirty="0">
                  <a:sym typeface="Wingdings" panose="05000000000000000000" pitchFamily="2" charset="2"/>
                </a:rPr>
                <a:t>-   3x3 grid of intersections (9 total intersections)   </a:t>
              </a:r>
            </a:p>
            <a:p>
              <a:r>
                <a:rPr lang="en-US" sz="2400" dirty="0">
                  <a:sym typeface="Wingdings" panose="05000000000000000000" pitchFamily="2" charset="2"/>
                </a:rPr>
                <a:t>-   Each intersection has traffic signals in all four directions (N, S, E, W)                   - Each road is 240 pixels long with a width of 25 pixels</a:t>
              </a:r>
              <a:endParaRPr lang="en-IN" sz="2400" dirty="0">
                <a:sym typeface="Wingdings" panose="05000000000000000000" pitchFamily="2" charset="2"/>
              </a:endParaRPr>
            </a:p>
            <a:p>
              <a:pPr marL="457200" indent="-457200">
                <a:buAutoNum type="arabicPeriod"/>
              </a:pPr>
              <a:endParaRPr lang="en-IN" sz="2400" dirty="0">
                <a:sym typeface="Wingdings" panose="05000000000000000000" pitchFamily="2" charset="2"/>
              </a:endParaRPr>
            </a:p>
            <a:p>
              <a:pPr marL="457200" indent="-457200">
                <a:buAutoNum type="arabicPeriod"/>
              </a:pPr>
              <a:r>
                <a:rPr lang="en-US" sz="2400" b="1" dirty="0">
                  <a:sym typeface="Wingdings" panose="05000000000000000000" pitchFamily="2" charset="2"/>
                </a:rPr>
                <a:t>Vehicle Types </a:t>
              </a:r>
            </a:p>
            <a:p>
              <a:r>
                <a:rPr lang="en-US" sz="2400" dirty="0">
                  <a:sym typeface="Wingdings" panose="05000000000000000000" pitchFamily="2" charset="2"/>
                </a:rPr>
                <a:t> </a:t>
              </a:r>
              <a:r>
                <a:rPr lang="en-US" sz="2400" b="1" dirty="0">
                  <a:sym typeface="Wingdings" panose="05000000000000000000" pitchFamily="2" charset="2"/>
                </a:rPr>
                <a:t>Regular vehicles:    </a:t>
              </a:r>
            </a:p>
            <a:p>
              <a:r>
                <a:rPr lang="en-US" sz="2400" dirty="0">
                  <a:sym typeface="Wingdings" panose="05000000000000000000" pitchFamily="2" charset="2"/>
                </a:rPr>
                <a:t>Color-coded by direction:     </a:t>
              </a:r>
            </a:p>
            <a:p>
              <a:r>
                <a:rPr lang="en-US" sz="2400" dirty="0">
                  <a:sym typeface="Wingdings" panose="05000000000000000000" pitchFamily="2" charset="2"/>
                </a:rPr>
                <a:t>    North: Bright Red      </a:t>
              </a:r>
            </a:p>
            <a:p>
              <a:r>
                <a:rPr lang="en-US" sz="2400" dirty="0">
                  <a:sym typeface="Wingdings" panose="05000000000000000000" pitchFamily="2" charset="2"/>
                </a:rPr>
                <a:t>    South: Bright Blue       </a:t>
              </a:r>
            </a:p>
            <a:p>
              <a:r>
                <a:rPr lang="en-US" sz="2400" dirty="0">
                  <a:sym typeface="Wingdings" panose="05000000000000000000" pitchFamily="2" charset="2"/>
                </a:rPr>
                <a:t>    East: Bright Green       </a:t>
              </a:r>
            </a:p>
            <a:p>
              <a:r>
                <a:rPr lang="en-US" sz="2400" dirty="0">
                  <a:sym typeface="Wingdings" panose="05000000000000000000" pitchFamily="2" charset="2"/>
                </a:rPr>
                <a:t>    West: Bright Orange</a:t>
              </a:r>
            </a:p>
            <a:p>
              <a:r>
                <a:rPr lang="en-US" sz="2400" dirty="0">
                  <a:sym typeface="Wingdings" panose="05000000000000000000" pitchFamily="2" charset="2"/>
                </a:rPr>
                <a:t> </a:t>
              </a:r>
              <a:r>
                <a:rPr lang="en-US" sz="2400" b="1" dirty="0">
                  <a:sym typeface="Wingdings" panose="05000000000000000000" pitchFamily="2" charset="2"/>
                </a:rPr>
                <a:t>Emergency vehicles</a:t>
              </a:r>
              <a:r>
                <a:rPr lang="en-US" sz="2400" dirty="0">
                  <a:sym typeface="Wingdings" panose="05000000000000000000" pitchFamily="2" charset="2"/>
                </a:rPr>
                <a:t>:  </a:t>
              </a:r>
            </a:p>
            <a:p>
              <a:r>
                <a:rPr lang="en-US" sz="2400" dirty="0">
                  <a:sym typeface="Wingdings" panose="05000000000000000000" pitchFamily="2" charset="2"/>
                </a:rPr>
                <a:t>   - Bright Red color     - Larger size (10 pixels radius)     - Flashing white lights</a:t>
              </a:r>
            </a:p>
            <a:p>
              <a:endParaRPr lang="en-US" sz="2400" dirty="0">
                <a:sym typeface="Wingdings" panose="05000000000000000000" pitchFamily="2" charset="2"/>
              </a:endParaRPr>
            </a:p>
            <a:p>
              <a:r>
                <a:rPr lang="en-US" sz="2400" dirty="0">
                  <a:sym typeface="Wingdings" panose="05000000000000000000" pitchFamily="2" charset="2"/>
                </a:rPr>
                <a:t>4. </a:t>
              </a:r>
              <a:r>
                <a:rPr lang="en-US" sz="2400" b="1" dirty="0">
                  <a:sym typeface="Wingdings" panose="05000000000000000000" pitchFamily="2" charset="2"/>
                </a:rPr>
                <a:t>Statistics Display  </a:t>
              </a:r>
            </a:p>
            <a:p>
              <a:r>
                <a:rPr lang="en-US" sz="2400" dirty="0">
                  <a:sym typeface="Wingdings" panose="05000000000000000000" pitchFamily="2" charset="2"/>
                </a:rPr>
                <a:t>-  Real-time vehicle counts  </a:t>
              </a:r>
            </a:p>
            <a:p>
              <a:r>
                <a:rPr lang="en-US" sz="2400" dirty="0">
                  <a:sym typeface="Wingdings" panose="05000000000000000000" pitchFamily="2" charset="2"/>
                </a:rPr>
                <a:t>-  Direction-wise traffic distribution  </a:t>
              </a:r>
            </a:p>
            <a:p>
              <a:r>
                <a:rPr lang="en-US" sz="2400" dirty="0">
                  <a:sym typeface="Wingdings" panose="05000000000000000000" pitchFamily="2" charset="2"/>
                </a:rPr>
                <a:t>-  Emergency vehicle tracking   </a:t>
              </a:r>
            </a:p>
            <a:p>
              <a:r>
                <a:rPr lang="en-US" sz="2400" dirty="0">
                  <a:sym typeface="Wingdings" panose="05000000000000000000" pitchFamily="2" charset="2"/>
                </a:rPr>
                <a:t>-  Intersection-specific timing information  </a:t>
              </a:r>
            </a:p>
            <a:p>
              <a:r>
                <a:rPr lang="en-US" sz="2400" dirty="0">
                  <a:sym typeface="Wingdings" panose="05000000000000000000" pitchFamily="2" charset="2"/>
                </a:rPr>
                <a:t>-  Simulation status indicator</a:t>
              </a:r>
            </a:p>
            <a:p>
              <a:endParaRPr lang="en-US" sz="2400" dirty="0">
                <a:sym typeface="Wingdings" panose="05000000000000000000" pitchFamily="2" charset="2"/>
              </a:endParaRPr>
            </a:p>
          </p:txBody>
        </p:sp>
        <p:sp>
          <p:nvSpPr>
            <p:cNvPr id="9" name="TextBox 9">
              <a:extLst>
                <a:ext uri="{FF2B5EF4-FFF2-40B4-BE49-F238E27FC236}">
                  <a16:creationId xmlns:a16="http://schemas.microsoft.com/office/drawing/2014/main" id="{F7C7E571-3008-950E-B17D-F522294DF925}"/>
                </a:ext>
              </a:extLst>
            </p:cNvPr>
            <p:cNvSpPr txBox="1"/>
            <p:nvPr/>
          </p:nvSpPr>
          <p:spPr>
            <a:xfrm>
              <a:off x="0" y="-95250"/>
              <a:ext cx="24383998" cy="5565328"/>
            </a:xfrm>
            <a:prstGeom prst="rect">
              <a:avLst/>
            </a:prstGeom>
          </p:spPr>
          <p:txBody>
            <a:bodyPr lIns="0" tIns="0" rIns="0" bIns="0" rtlCol="0" anchor="t"/>
            <a:lstStyle/>
            <a:p>
              <a:pPr marL="434340" lvl="1" algn="l">
                <a:lnSpc>
                  <a:spcPts val="5759"/>
                </a:lnSpc>
              </a:pPr>
              <a:endParaRPr lang="en-US" sz="2400" dirty="0">
                <a:solidFill>
                  <a:srgbClr val="000000"/>
                </a:solidFill>
                <a:latin typeface="Arial"/>
                <a:ea typeface="Arial"/>
                <a:cs typeface="Arial"/>
                <a:sym typeface="Arial"/>
              </a:endParaRPr>
            </a:p>
          </p:txBody>
        </p:sp>
      </p:grpSp>
      <p:grpSp>
        <p:nvGrpSpPr>
          <p:cNvPr id="10" name="Group 10">
            <a:extLst>
              <a:ext uri="{FF2B5EF4-FFF2-40B4-BE49-F238E27FC236}">
                <a16:creationId xmlns:a16="http://schemas.microsoft.com/office/drawing/2014/main" id="{4B61AB8A-32A0-E690-9643-71528007CB0C}"/>
              </a:ext>
            </a:extLst>
          </p:cNvPr>
          <p:cNvGrpSpPr/>
          <p:nvPr/>
        </p:nvGrpSpPr>
        <p:grpSpPr>
          <a:xfrm>
            <a:off x="13106400" y="9534530"/>
            <a:ext cx="4267200" cy="547688"/>
            <a:chOff x="0" y="0"/>
            <a:chExt cx="5689600" cy="730250"/>
          </a:xfrm>
        </p:grpSpPr>
        <p:sp>
          <p:nvSpPr>
            <p:cNvPr id="11" name="Freeform 11">
              <a:extLst>
                <a:ext uri="{FF2B5EF4-FFF2-40B4-BE49-F238E27FC236}">
                  <a16:creationId xmlns:a16="http://schemas.microsoft.com/office/drawing/2014/main" id="{4B94DF28-0545-75F7-F9FD-2A6C33C237BA}"/>
                </a:ext>
              </a:extLst>
            </p:cNvPr>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solidFill>
              <a:srgbClr val="000000">
                <a:alpha val="0"/>
              </a:srgbClr>
            </a:solidFill>
          </p:spPr>
          <p:txBody>
            <a:bodyPr/>
            <a:lstStyle/>
            <a:p>
              <a:endParaRPr lang="en-IN"/>
            </a:p>
          </p:txBody>
        </p:sp>
        <p:sp>
          <p:nvSpPr>
            <p:cNvPr id="12" name="TextBox 12">
              <a:extLst>
                <a:ext uri="{FF2B5EF4-FFF2-40B4-BE49-F238E27FC236}">
                  <a16:creationId xmlns:a16="http://schemas.microsoft.com/office/drawing/2014/main" id="{D9D972EC-F6CA-7E72-FEA7-587050CE1921}"/>
                </a:ext>
              </a:extLst>
            </p:cNvPr>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2</a:t>
              </a:r>
            </a:p>
          </p:txBody>
        </p:sp>
      </p:grpSp>
      <p:grpSp>
        <p:nvGrpSpPr>
          <p:cNvPr id="13" name="Group 13">
            <a:extLst>
              <a:ext uri="{FF2B5EF4-FFF2-40B4-BE49-F238E27FC236}">
                <a16:creationId xmlns:a16="http://schemas.microsoft.com/office/drawing/2014/main" id="{84465534-54F4-0DEA-EDAA-F33356E386A0}"/>
              </a:ext>
            </a:extLst>
          </p:cNvPr>
          <p:cNvGrpSpPr/>
          <p:nvPr/>
        </p:nvGrpSpPr>
        <p:grpSpPr>
          <a:xfrm>
            <a:off x="6972300" y="9534530"/>
            <a:ext cx="4806000" cy="547688"/>
            <a:chOff x="0" y="0"/>
            <a:chExt cx="6408000" cy="730250"/>
          </a:xfrm>
        </p:grpSpPr>
        <p:sp>
          <p:nvSpPr>
            <p:cNvPr id="14" name="Freeform 14">
              <a:extLst>
                <a:ext uri="{FF2B5EF4-FFF2-40B4-BE49-F238E27FC236}">
                  <a16:creationId xmlns:a16="http://schemas.microsoft.com/office/drawing/2014/main" id="{9AC794D5-4F32-D060-F1EF-6F3A6A168331}"/>
                </a:ext>
              </a:extLst>
            </p:cNvPr>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solidFill>
              <a:srgbClr val="000000">
                <a:alpha val="0"/>
              </a:srgbClr>
            </a:solidFill>
          </p:spPr>
          <p:txBody>
            <a:bodyPr/>
            <a:lstStyle/>
            <a:p>
              <a:endParaRPr lang="en-IN"/>
            </a:p>
          </p:txBody>
        </p:sp>
        <p:sp>
          <p:nvSpPr>
            <p:cNvPr id="15" name="TextBox 15">
              <a:extLst>
                <a:ext uri="{FF2B5EF4-FFF2-40B4-BE49-F238E27FC236}">
                  <a16:creationId xmlns:a16="http://schemas.microsoft.com/office/drawing/2014/main" id="{126F62C7-E41F-5622-ED4A-F8CEA3720FA3}"/>
                </a:ext>
              </a:extLst>
            </p:cNvPr>
            <p:cNvSpPr txBox="1"/>
            <p:nvPr/>
          </p:nvSpPr>
          <p:spPr>
            <a:xfrm>
              <a:off x="0" y="-19050"/>
              <a:ext cx="6408000"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@Hack4Industry Elimination Round- Template</a:t>
              </a:r>
            </a:p>
          </p:txBody>
        </p:sp>
      </p:grpSp>
      <p:grpSp>
        <p:nvGrpSpPr>
          <p:cNvPr id="16" name="Group 16">
            <a:extLst>
              <a:ext uri="{FF2B5EF4-FFF2-40B4-BE49-F238E27FC236}">
                <a16:creationId xmlns:a16="http://schemas.microsoft.com/office/drawing/2014/main" id="{B61946A4-349A-4AAD-277D-C8A190A88464}"/>
              </a:ext>
            </a:extLst>
          </p:cNvPr>
          <p:cNvGrpSpPr/>
          <p:nvPr/>
        </p:nvGrpSpPr>
        <p:grpSpPr>
          <a:xfrm>
            <a:off x="475610" y="359319"/>
            <a:ext cx="1915886" cy="1249101"/>
            <a:chOff x="0" y="0"/>
            <a:chExt cx="2554514" cy="1665468"/>
          </a:xfrm>
        </p:grpSpPr>
        <p:sp>
          <p:nvSpPr>
            <p:cNvPr id="17" name="Freeform 17" descr="Your startup LOGO">
              <a:extLst>
                <a:ext uri="{FF2B5EF4-FFF2-40B4-BE49-F238E27FC236}">
                  <a16:creationId xmlns:a16="http://schemas.microsoft.com/office/drawing/2014/main" id="{18815E3C-B8F4-AE56-F75B-6D00292E8539}"/>
                </a:ext>
              </a:extLst>
            </p:cNvPr>
            <p:cNvSpPr/>
            <p:nvPr/>
          </p:nvSpPr>
          <p:spPr>
            <a:xfrm>
              <a:off x="25400" y="25400"/>
              <a:ext cx="2503678" cy="1614678"/>
            </a:xfrm>
            <a:custGeom>
              <a:avLst/>
              <a:gdLst/>
              <a:ahLst/>
              <a:cxnLst/>
              <a:rect l="l" t="t" r="r" b="b"/>
              <a:pathLst>
                <a:path w="2503678" h="1614678">
                  <a:moveTo>
                    <a:pt x="0" y="807339"/>
                  </a:moveTo>
                  <a:cubicBezTo>
                    <a:pt x="0" y="361442"/>
                    <a:pt x="560451" y="0"/>
                    <a:pt x="1251839" y="0"/>
                  </a:cubicBezTo>
                  <a:cubicBezTo>
                    <a:pt x="1943227" y="0"/>
                    <a:pt x="2503678" y="361442"/>
                    <a:pt x="2503678" y="807339"/>
                  </a:cubicBezTo>
                  <a:cubicBezTo>
                    <a:pt x="2503678" y="1253236"/>
                    <a:pt x="1943227" y="1614678"/>
                    <a:pt x="1251839" y="1614678"/>
                  </a:cubicBezTo>
                  <a:cubicBezTo>
                    <a:pt x="560451" y="1614678"/>
                    <a:pt x="0" y="1253236"/>
                    <a:pt x="0" y="807339"/>
                  </a:cubicBezTo>
                  <a:close/>
                </a:path>
              </a:pathLst>
            </a:custGeom>
            <a:solidFill>
              <a:srgbClr val="FFFFFF"/>
            </a:solidFill>
          </p:spPr>
          <p:txBody>
            <a:bodyPr/>
            <a:lstStyle/>
            <a:p>
              <a:endParaRPr lang="en-IN"/>
            </a:p>
          </p:txBody>
        </p:sp>
        <p:sp>
          <p:nvSpPr>
            <p:cNvPr id="18" name="Freeform 18" descr="Your startup LOGO">
              <a:extLst>
                <a:ext uri="{FF2B5EF4-FFF2-40B4-BE49-F238E27FC236}">
                  <a16:creationId xmlns:a16="http://schemas.microsoft.com/office/drawing/2014/main" id="{4FFCC902-FA14-1DA6-5F14-3859119AA771}"/>
                </a:ext>
              </a:extLst>
            </p:cNvPr>
            <p:cNvSpPr/>
            <p:nvPr/>
          </p:nvSpPr>
          <p:spPr>
            <a:xfrm>
              <a:off x="0" y="0"/>
              <a:ext cx="2554478" cy="1665478"/>
            </a:xfrm>
            <a:custGeom>
              <a:avLst/>
              <a:gdLst/>
              <a:ahLst/>
              <a:cxnLst/>
              <a:rect l="l" t="t" r="r" b="b"/>
              <a:pathLst>
                <a:path w="2554478" h="1665478">
                  <a:moveTo>
                    <a:pt x="0" y="832739"/>
                  </a:moveTo>
                  <a:cubicBezTo>
                    <a:pt x="0" y="363855"/>
                    <a:pt x="583057" y="0"/>
                    <a:pt x="1277239" y="0"/>
                  </a:cubicBezTo>
                  <a:cubicBezTo>
                    <a:pt x="1971421" y="0"/>
                    <a:pt x="2554478" y="363855"/>
                    <a:pt x="2554478" y="832739"/>
                  </a:cubicBezTo>
                  <a:lnTo>
                    <a:pt x="2529078" y="832739"/>
                  </a:lnTo>
                  <a:lnTo>
                    <a:pt x="2554478" y="832739"/>
                  </a:lnTo>
                  <a:cubicBezTo>
                    <a:pt x="2554478" y="1301623"/>
                    <a:pt x="1971421" y="1665478"/>
                    <a:pt x="1277239" y="1665478"/>
                  </a:cubicBezTo>
                  <a:lnTo>
                    <a:pt x="1277239" y="1640078"/>
                  </a:lnTo>
                  <a:lnTo>
                    <a:pt x="1277239" y="1665478"/>
                  </a:lnTo>
                  <a:cubicBezTo>
                    <a:pt x="583057" y="1665478"/>
                    <a:pt x="0" y="1301623"/>
                    <a:pt x="0" y="832739"/>
                  </a:cubicBezTo>
                  <a:lnTo>
                    <a:pt x="25400" y="832739"/>
                  </a:lnTo>
                  <a:lnTo>
                    <a:pt x="50800" y="832739"/>
                  </a:lnTo>
                  <a:lnTo>
                    <a:pt x="25400" y="832739"/>
                  </a:lnTo>
                  <a:lnTo>
                    <a:pt x="0" y="832739"/>
                  </a:lnTo>
                  <a:moveTo>
                    <a:pt x="50800" y="832739"/>
                  </a:moveTo>
                  <a:cubicBezTo>
                    <a:pt x="50800" y="846709"/>
                    <a:pt x="39370" y="858139"/>
                    <a:pt x="25400" y="858139"/>
                  </a:cubicBezTo>
                  <a:cubicBezTo>
                    <a:pt x="11430" y="858139"/>
                    <a:pt x="0" y="846709"/>
                    <a:pt x="0" y="832739"/>
                  </a:cubicBezTo>
                  <a:cubicBezTo>
                    <a:pt x="0" y="818769"/>
                    <a:pt x="11430" y="807339"/>
                    <a:pt x="25400" y="807339"/>
                  </a:cubicBezTo>
                  <a:cubicBezTo>
                    <a:pt x="39370" y="807339"/>
                    <a:pt x="50800" y="818769"/>
                    <a:pt x="50800" y="832739"/>
                  </a:cubicBezTo>
                  <a:cubicBezTo>
                    <a:pt x="50800" y="1255522"/>
                    <a:pt x="588772" y="1614678"/>
                    <a:pt x="1277239" y="1614678"/>
                  </a:cubicBezTo>
                  <a:cubicBezTo>
                    <a:pt x="1965706" y="1614678"/>
                    <a:pt x="2503678" y="1255522"/>
                    <a:pt x="2503678" y="832739"/>
                  </a:cubicBezTo>
                  <a:cubicBezTo>
                    <a:pt x="2503678" y="409956"/>
                    <a:pt x="1965833" y="50800"/>
                    <a:pt x="1277239" y="50800"/>
                  </a:cubicBezTo>
                  <a:lnTo>
                    <a:pt x="1277239" y="25400"/>
                  </a:lnTo>
                  <a:lnTo>
                    <a:pt x="1277239" y="50800"/>
                  </a:lnTo>
                  <a:cubicBezTo>
                    <a:pt x="588772" y="50800"/>
                    <a:pt x="50800" y="409956"/>
                    <a:pt x="50800" y="832739"/>
                  </a:cubicBezTo>
                  <a:close/>
                </a:path>
              </a:pathLst>
            </a:custGeom>
            <a:solidFill>
              <a:srgbClr val="8064A2"/>
            </a:solidFill>
          </p:spPr>
          <p:txBody>
            <a:bodyPr/>
            <a:lstStyle/>
            <a:p>
              <a:endParaRPr lang="en-IN"/>
            </a:p>
          </p:txBody>
        </p:sp>
        <p:sp>
          <p:nvSpPr>
            <p:cNvPr id="19" name="TextBox 19">
              <a:extLst>
                <a:ext uri="{FF2B5EF4-FFF2-40B4-BE49-F238E27FC236}">
                  <a16:creationId xmlns:a16="http://schemas.microsoft.com/office/drawing/2014/main" id="{FA987BDD-2545-A885-838B-7FA2AB199218}"/>
                </a:ext>
              </a:extLst>
            </p:cNvPr>
            <p:cNvSpPr txBox="1"/>
            <p:nvPr/>
          </p:nvSpPr>
          <p:spPr>
            <a:xfrm>
              <a:off x="0" y="-57150"/>
              <a:ext cx="2554514" cy="1722618"/>
            </a:xfrm>
            <a:prstGeom prst="rect">
              <a:avLst/>
            </a:prstGeom>
          </p:spPr>
          <p:txBody>
            <a:bodyPr lIns="50800" tIns="50800" rIns="50800" bIns="50800" rtlCol="0" anchor="ctr"/>
            <a:lstStyle/>
            <a:p>
              <a:pPr algn="ctr">
                <a:lnSpc>
                  <a:spcPts val="3240"/>
                </a:lnSpc>
              </a:pPr>
              <a:r>
                <a:rPr lang="en-US" sz="2700" dirty="0">
                  <a:solidFill>
                    <a:srgbClr val="000000"/>
                  </a:solidFill>
                  <a:latin typeface="Calibri (MS)"/>
                  <a:ea typeface="Calibri (MS)"/>
                  <a:cs typeface="Calibri (MS)"/>
                  <a:sym typeface="Calibri (MS)"/>
                </a:rPr>
                <a:t>Team </a:t>
              </a:r>
              <a:r>
                <a:rPr lang="en-US" sz="2700" dirty="0" err="1">
                  <a:solidFill>
                    <a:srgbClr val="000000"/>
                  </a:solidFill>
                  <a:latin typeface="Calibri (MS)"/>
                  <a:ea typeface="Calibri (MS)"/>
                  <a:cs typeface="Calibri (MS)"/>
                  <a:sym typeface="Calibri (MS)"/>
                </a:rPr>
                <a:t>Omniscients</a:t>
              </a:r>
              <a:endParaRPr lang="en-US" sz="2700" dirty="0">
                <a:solidFill>
                  <a:srgbClr val="000000"/>
                </a:solidFill>
                <a:latin typeface="Calibri (MS)"/>
                <a:ea typeface="Calibri (MS)"/>
                <a:cs typeface="Calibri (MS)"/>
                <a:sym typeface="Calibri (MS)"/>
              </a:endParaRPr>
            </a:p>
          </p:txBody>
        </p:sp>
      </p:grpSp>
      <p:sp>
        <p:nvSpPr>
          <p:cNvPr id="20" name="Freeform 20">
            <a:extLst>
              <a:ext uri="{FF2B5EF4-FFF2-40B4-BE49-F238E27FC236}">
                <a16:creationId xmlns:a16="http://schemas.microsoft.com/office/drawing/2014/main" id="{E573AAD1-94C0-58F0-6B85-BBAD63DC5911}"/>
              </a:ext>
            </a:extLst>
          </p:cNvPr>
          <p:cNvSpPr/>
          <p:nvPr/>
        </p:nvSpPr>
        <p:spPr>
          <a:xfrm>
            <a:off x="16145568" y="0"/>
            <a:ext cx="2053284" cy="2657973"/>
          </a:xfrm>
          <a:custGeom>
            <a:avLst/>
            <a:gdLst/>
            <a:ahLst/>
            <a:cxnLst/>
            <a:rect l="l" t="t" r="r" b="b"/>
            <a:pathLst>
              <a:path w="2053284" h="2657973">
                <a:moveTo>
                  <a:pt x="0" y="0"/>
                </a:moveTo>
                <a:lnTo>
                  <a:pt x="2053284" y="0"/>
                </a:lnTo>
                <a:lnTo>
                  <a:pt x="2053284" y="2657973"/>
                </a:lnTo>
                <a:lnTo>
                  <a:pt x="0" y="2657973"/>
                </a:lnTo>
                <a:lnTo>
                  <a:pt x="0" y="0"/>
                </a:lnTo>
                <a:close/>
              </a:path>
            </a:pathLst>
          </a:custGeom>
          <a:blipFill>
            <a:blip r:embed="rId2"/>
            <a:stretch>
              <a:fillRect/>
            </a:stretch>
          </a:blipFill>
        </p:spPr>
        <p:txBody>
          <a:bodyPr/>
          <a:lstStyle/>
          <a:p>
            <a:endParaRPr lang="en-IN"/>
          </a:p>
        </p:txBody>
      </p:sp>
      <p:sp>
        <p:nvSpPr>
          <p:cNvPr id="21" name="TextBox 20">
            <a:extLst>
              <a:ext uri="{FF2B5EF4-FFF2-40B4-BE49-F238E27FC236}">
                <a16:creationId xmlns:a16="http://schemas.microsoft.com/office/drawing/2014/main" id="{7278F43F-3854-CF60-D486-B2A724151CAC}"/>
              </a:ext>
            </a:extLst>
          </p:cNvPr>
          <p:cNvSpPr txBox="1"/>
          <p:nvPr/>
        </p:nvSpPr>
        <p:spPr>
          <a:xfrm>
            <a:off x="12039600" y="6362700"/>
            <a:ext cx="5105400" cy="769441"/>
          </a:xfrm>
          <a:prstGeom prst="rect">
            <a:avLst/>
          </a:prstGeom>
          <a:noFill/>
        </p:spPr>
        <p:txBody>
          <a:bodyPr wrap="square" rtlCol="0">
            <a:spAutoFit/>
          </a:bodyPr>
          <a:lstStyle/>
          <a:p>
            <a:r>
              <a:rPr lang="en-IN" sz="4400" dirty="0"/>
              <a:t>Simulation Ahead !!</a:t>
            </a:r>
          </a:p>
        </p:txBody>
      </p:sp>
    </p:spTree>
    <p:extLst>
      <p:ext uri="{BB962C8B-B14F-4D97-AF65-F5344CB8AC3E}">
        <p14:creationId xmlns:p14="http://schemas.microsoft.com/office/powerpoint/2010/main" val="2326360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7780936-B798-92EA-2B6F-E90E709C0768}"/>
              </a:ext>
            </a:extLst>
          </p:cNvPr>
          <p:cNvGrpSpPr/>
          <p:nvPr/>
        </p:nvGrpSpPr>
        <p:grpSpPr>
          <a:xfrm>
            <a:off x="0" y="9532143"/>
            <a:ext cx="18287998" cy="754857"/>
            <a:chOff x="0" y="0"/>
            <a:chExt cx="24383998" cy="1006476"/>
          </a:xfrm>
        </p:grpSpPr>
        <p:sp>
          <p:nvSpPr>
            <p:cNvPr id="3" name="Freeform 3">
              <a:extLst>
                <a:ext uri="{FF2B5EF4-FFF2-40B4-BE49-F238E27FC236}">
                  <a16:creationId xmlns:a16="http://schemas.microsoft.com/office/drawing/2014/main" id="{93C152AF-96B0-3414-F953-8F2F5A53F651}"/>
                </a:ext>
              </a:extLst>
            </p:cNvPr>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txBody>
            <a:bodyPr/>
            <a:lstStyle/>
            <a:p>
              <a:endParaRPr lang="en-IN"/>
            </a:p>
          </p:txBody>
        </p:sp>
      </p:grpSp>
      <p:grpSp>
        <p:nvGrpSpPr>
          <p:cNvPr id="4" name="Group 4">
            <a:extLst>
              <a:ext uri="{FF2B5EF4-FFF2-40B4-BE49-F238E27FC236}">
                <a16:creationId xmlns:a16="http://schemas.microsoft.com/office/drawing/2014/main" id="{366E3380-B6D4-40BE-9829-290CBD86ED43}"/>
              </a:ext>
            </a:extLst>
          </p:cNvPr>
          <p:cNvGrpSpPr/>
          <p:nvPr/>
        </p:nvGrpSpPr>
        <p:grpSpPr>
          <a:xfrm>
            <a:off x="510989" y="-78581"/>
            <a:ext cx="16486414" cy="1793081"/>
            <a:chOff x="0" y="-104775"/>
            <a:chExt cx="21981885" cy="2390775"/>
          </a:xfrm>
        </p:grpSpPr>
        <p:sp>
          <p:nvSpPr>
            <p:cNvPr id="5" name="Freeform 5">
              <a:extLst>
                <a:ext uri="{FF2B5EF4-FFF2-40B4-BE49-F238E27FC236}">
                  <a16:creationId xmlns:a16="http://schemas.microsoft.com/office/drawing/2014/main" id="{F3B5BD62-B49F-90D4-72BF-80AA517DCCD7}"/>
                </a:ext>
              </a:extLst>
            </p:cNvPr>
            <p:cNvSpPr/>
            <p:nvPr/>
          </p:nvSpPr>
          <p:spPr>
            <a:xfrm>
              <a:off x="36285" y="0"/>
              <a:ext cx="21945600" cy="2286000"/>
            </a:xfrm>
            <a:custGeom>
              <a:avLst/>
              <a:gdLst/>
              <a:ahLst/>
              <a:cxnLst/>
              <a:rect l="l" t="t" r="r" b="b"/>
              <a:pathLst>
                <a:path w="21945600" h="2286000">
                  <a:moveTo>
                    <a:pt x="0" y="0"/>
                  </a:moveTo>
                  <a:lnTo>
                    <a:pt x="21945600" y="0"/>
                  </a:lnTo>
                  <a:lnTo>
                    <a:pt x="21945600" y="2286000"/>
                  </a:lnTo>
                  <a:lnTo>
                    <a:pt x="0" y="2286000"/>
                  </a:lnTo>
                  <a:close/>
                </a:path>
              </a:pathLst>
            </a:custGeom>
            <a:solidFill>
              <a:srgbClr val="000000">
                <a:alpha val="0"/>
              </a:srgbClr>
            </a:solidFill>
          </p:spPr>
          <p:txBody>
            <a:bodyPr/>
            <a:lstStyle/>
            <a:p>
              <a:endParaRPr lang="en-IN"/>
            </a:p>
          </p:txBody>
        </p:sp>
        <p:sp>
          <p:nvSpPr>
            <p:cNvPr id="6" name="TextBox 6">
              <a:extLst>
                <a:ext uri="{FF2B5EF4-FFF2-40B4-BE49-F238E27FC236}">
                  <a16:creationId xmlns:a16="http://schemas.microsoft.com/office/drawing/2014/main" id="{7807D884-A40B-5141-45B3-0C4BD41F2439}"/>
                </a:ext>
              </a:extLst>
            </p:cNvPr>
            <p:cNvSpPr txBox="1"/>
            <p:nvPr/>
          </p:nvSpPr>
          <p:spPr>
            <a:xfrm>
              <a:off x="0" y="-104775"/>
              <a:ext cx="21945600" cy="2390775"/>
            </a:xfrm>
            <a:prstGeom prst="rect">
              <a:avLst/>
            </a:prstGeom>
          </p:spPr>
          <p:txBody>
            <a:bodyPr lIns="0" tIns="0" rIns="0" bIns="0" rtlCol="0" anchor="ctr"/>
            <a:lstStyle/>
            <a:p>
              <a:pPr algn="ctr">
                <a:lnSpc>
                  <a:spcPts val="6480"/>
                </a:lnSpc>
              </a:pPr>
              <a:endParaRPr dirty="0"/>
            </a:p>
            <a:p>
              <a:pPr algn="ctr">
                <a:lnSpc>
                  <a:spcPts val="6480"/>
                </a:lnSpc>
              </a:pPr>
              <a:r>
                <a:rPr lang="en-US" sz="4400" b="1" dirty="0">
                  <a:solidFill>
                    <a:srgbClr val="000000"/>
                  </a:solidFill>
                  <a:latin typeface="Times New Roman Bold"/>
                  <a:ea typeface="Times New Roman Bold"/>
                  <a:cs typeface="Times New Roman Bold"/>
                  <a:sym typeface="Times New Roman Bold"/>
                </a:rPr>
                <a:t>THE TECHNOLOGY STACK</a:t>
              </a:r>
            </a:p>
          </p:txBody>
        </p:sp>
      </p:grpSp>
      <p:grpSp>
        <p:nvGrpSpPr>
          <p:cNvPr id="7" name="Group 7">
            <a:extLst>
              <a:ext uri="{FF2B5EF4-FFF2-40B4-BE49-F238E27FC236}">
                <a16:creationId xmlns:a16="http://schemas.microsoft.com/office/drawing/2014/main" id="{407DE285-F8FD-19EA-FA54-717B9D7FD5F6}"/>
              </a:ext>
            </a:extLst>
          </p:cNvPr>
          <p:cNvGrpSpPr/>
          <p:nvPr/>
        </p:nvGrpSpPr>
        <p:grpSpPr>
          <a:xfrm>
            <a:off x="-110917" y="2008792"/>
            <a:ext cx="18509834" cy="7476502"/>
            <a:chOff x="0" y="-95250"/>
            <a:chExt cx="24679779" cy="5565328"/>
          </a:xfrm>
        </p:grpSpPr>
        <p:sp>
          <p:nvSpPr>
            <p:cNvPr id="8" name="Freeform 8">
              <a:extLst>
                <a:ext uri="{FF2B5EF4-FFF2-40B4-BE49-F238E27FC236}">
                  <a16:creationId xmlns:a16="http://schemas.microsoft.com/office/drawing/2014/main" id="{4DA062DB-E15D-A250-BE5B-FAB415A0F133}"/>
                </a:ext>
              </a:extLst>
            </p:cNvPr>
            <p:cNvSpPr/>
            <p:nvPr/>
          </p:nvSpPr>
          <p:spPr>
            <a:xfrm>
              <a:off x="295781" y="-71537"/>
              <a:ext cx="24383998" cy="5470078"/>
            </a:xfrm>
            <a:custGeom>
              <a:avLst/>
              <a:gdLst/>
              <a:ahLst/>
              <a:cxnLst/>
              <a:rect l="l" t="t" r="r" b="b"/>
              <a:pathLst>
                <a:path w="24383998" h="5470078">
                  <a:moveTo>
                    <a:pt x="0" y="0"/>
                  </a:moveTo>
                  <a:lnTo>
                    <a:pt x="24383998" y="0"/>
                  </a:lnTo>
                  <a:lnTo>
                    <a:pt x="24383998" y="5470078"/>
                  </a:lnTo>
                  <a:lnTo>
                    <a:pt x="0" y="5470078"/>
                  </a:lnTo>
                  <a:close/>
                </a:path>
              </a:pathLst>
            </a:custGeom>
            <a:solidFill>
              <a:srgbClr val="000000">
                <a:alpha val="0"/>
              </a:srgbClr>
            </a:solidFill>
          </p:spPr>
          <p:txBody>
            <a:bodyPr/>
            <a:lstStyle/>
            <a:p>
              <a:r>
                <a:rPr lang="en-IN" sz="3200" b="1" dirty="0">
                  <a:sym typeface="Wingdings" panose="05000000000000000000" pitchFamily="2" charset="2"/>
                </a:rPr>
                <a:t>Going step by step :</a:t>
              </a:r>
            </a:p>
            <a:p>
              <a:pPr marL="342900" indent="-342900">
                <a:buFont typeface="Wingdings" panose="05000000000000000000" pitchFamily="2" charset="2"/>
                <a:buChar char="à"/>
              </a:pPr>
              <a:endParaRPr lang="en-IN" sz="3200" dirty="0"/>
            </a:p>
            <a:p>
              <a:pPr marL="342900" indent="-342900">
                <a:buFont typeface="Wingdings" panose="05000000000000000000" pitchFamily="2" charset="2"/>
                <a:buChar char="à"/>
              </a:pPr>
              <a:r>
                <a:rPr lang="en-IN" sz="3200" dirty="0"/>
                <a:t> </a:t>
              </a:r>
              <a:r>
                <a:rPr lang="en-IN" sz="3200" b="1" dirty="0"/>
                <a:t>Particle Swarm Optimization </a:t>
              </a:r>
              <a:r>
                <a:rPr lang="en-IN" sz="3200" dirty="0"/>
                <a:t>is the heart of our solution which is powerful for adapting to dynamic environment. In Indian traffic problems, the traffic is very dynamic but we are still using the old predefined circuitries for timing the signals.</a:t>
              </a:r>
            </a:p>
            <a:p>
              <a:pPr marL="342900" indent="-342900">
                <a:buFont typeface="Wingdings" panose="05000000000000000000" pitchFamily="2" charset="2"/>
                <a:buChar char="à"/>
              </a:pPr>
              <a:endParaRPr lang="en-IN" sz="3200" dirty="0"/>
            </a:p>
            <a:p>
              <a:pPr marL="342900" indent="-342900">
                <a:buFont typeface="Wingdings" panose="05000000000000000000" pitchFamily="2" charset="2"/>
                <a:buChar char="à"/>
              </a:pPr>
              <a:r>
                <a:rPr lang="en-IN" sz="3200" dirty="0"/>
                <a:t>Data input through live CCTV traffic footages using </a:t>
              </a:r>
              <a:r>
                <a:rPr lang="en-IN" sz="3200" b="1" dirty="0"/>
                <a:t>Computer Vision (YoloV8n)</a:t>
              </a:r>
              <a:r>
                <a:rPr lang="en-IN" sz="3200" dirty="0"/>
                <a:t>.</a:t>
              </a:r>
            </a:p>
            <a:p>
              <a:pPr marL="342900" indent="-342900">
                <a:buFont typeface="Wingdings" panose="05000000000000000000" pitchFamily="2" charset="2"/>
                <a:buChar char="à"/>
              </a:pPr>
              <a:endParaRPr lang="en-IN" sz="3200" dirty="0"/>
            </a:p>
            <a:p>
              <a:pPr marL="342900" indent="-342900">
                <a:buFont typeface="Wingdings" panose="05000000000000000000" pitchFamily="2" charset="2"/>
                <a:buChar char="à"/>
              </a:pPr>
              <a:r>
                <a:rPr lang="en-IN" sz="3200" dirty="0"/>
                <a:t>Making of simulation</a:t>
              </a:r>
              <a:r>
                <a:rPr lang="en-IN" sz="3200" b="1" dirty="0"/>
                <a:t> </a:t>
              </a:r>
              <a:r>
                <a:rPr lang="en-IN" sz="3200" dirty="0"/>
                <a:t>using </a:t>
              </a:r>
              <a:r>
                <a:rPr lang="en-IN" sz="3200" b="1" dirty="0"/>
                <a:t>Python</a:t>
              </a:r>
              <a:r>
                <a:rPr lang="en-IN" sz="3200" dirty="0"/>
                <a:t> and its libraries like </a:t>
              </a:r>
              <a:r>
                <a:rPr lang="en-IN" sz="3200" b="1" dirty="0" err="1"/>
                <a:t>numpy</a:t>
              </a:r>
              <a:r>
                <a:rPr lang="en-IN" sz="3200" b="1" dirty="0"/>
                <a:t>, </a:t>
              </a:r>
              <a:r>
                <a:rPr lang="en-IN" sz="3200" b="1" dirty="0" err="1"/>
                <a:t>pygame</a:t>
              </a:r>
              <a:r>
                <a:rPr lang="en-IN" sz="3200" b="1" dirty="0"/>
                <a:t>, matplotlib, time </a:t>
              </a:r>
              <a:r>
                <a:rPr lang="en-IN" sz="3200" dirty="0"/>
                <a:t>and others.</a:t>
              </a:r>
            </a:p>
            <a:p>
              <a:pPr marL="342900" indent="-342900">
                <a:buFont typeface="Wingdings" panose="05000000000000000000" pitchFamily="2" charset="2"/>
                <a:buChar char="à"/>
              </a:pPr>
              <a:endParaRPr lang="en-IN" sz="3200" b="1" dirty="0"/>
            </a:p>
            <a:p>
              <a:endParaRPr lang="en-IN" sz="3200" b="1" dirty="0"/>
            </a:p>
            <a:p>
              <a:r>
                <a:rPr lang="en-IN" sz="3200" b="1" dirty="0"/>
                <a:t> </a:t>
              </a:r>
            </a:p>
          </p:txBody>
        </p:sp>
        <p:sp>
          <p:nvSpPr>
            <p:cNvPr id="9" name="TextBox 9">
              <a:extLst>
                <a:ext uri="{FF2B5EF4-FFF2-40B4-BE49-F238E27FC236}">
                  <a16:creationId xmlns:a16="http://schemas.microsoft.com/office/drawing/2014/main" id="{2CDFD3E1-1E58-9B19-DC5A-C3316F2CEE82}"/>
                </a:ext>
              </a:extLst>
            </p:cNvPr>
            <p:cNvSpPr txBox="1"/>
            <p:nvPr/>
          </p:nvSpPr>
          <p:spPr>
            <a:xfrm>
              <a:off x="0" y="-95250"/>
              <a:ext cx="24383998" cy="5565328"/>
            </a:xfrm>
            <a:prstGeom prst="rect">
              <a:avLst/>
            </a:prstGeom>
          </p:spPr>
          <p:txBody>
            <a:bodyPr lIns="0" tIns="0" rIns="0" bIns="0" rtlCol="0" anchor="t"/>
            <a:lstStyle/>
            <a:p>
              <a:pPr marL="868680" lvl="1" indent="-434340" algn="l">
                <a:lnSpc>
                  <a:spcPts val="5759"/>
                </a:lnSpc>
                <a:buFont typeface="Arial"/>
                <a:buChar char="•"/>
              </a:pPr>
              <a:endParaRPr lang="en-US" sz="2400" dirty="0">
                <a:solidFill>
                  <a:srgbClr val="000000"/>
                </a:solidFill>
                <a:latin typeface="Arial"/>
                <a:ea typeface="Arial"/>
                <a:cs typeface="Arial"/>
                <a:sym typeface="Arial"/>
              </a:endParaRPr>
            </a:p>
          </p:txBody>
        </p:sp>
      </p:grpSp>
      <p:grpSp>
        <p:nvGrpSpPr>
          <p:cNvPr id="10" name="Group 10">
            <a:extLst>
              <a:ext uri="{FF2B5EF4-FFF2-40B4-BE49-F238E27FC236}">
                <a16:creationId xmlns:a16="http://schemas.microsoft.com/office/drawing/2014/main" id="{E4261A01-9760-48AA-E616-D298C56B52B9}"/>
              </a:ext>
            </a:extLst>
          </p:cNvPr>
          <p:cNvGrpSpPr/>
          <p:nvPr/>
        </p:nvGrpSpPr>
        <p:grpSpPr>
          <a:xfrm>
            <a:off x="13106400" y="9534530"/>
            <a:ext cx="4267200" cy="547688"/>
            <a:chOff x="0" y="0"/>
            <a:chExt cx="5689600" cy="730250"/>
          </a:xfrm>
        </p:grpSpPr>
        <p:sp>
          <p:nvSpPr>
            <p:cNvPr id="11" name="Freeform 11">
              <a:extLst>
                <a:ext uri="{FF2B5EF4-FFF2-40B4-BE49-F238E27FC236}">
                  <a16:creationId xmlns:a16="http://schemas.microsoft.com/office/drawing/2014/main" id="{855452C4-4B7A-1A66-DA17-02A18462C95B}"/>
                </a:ext>
              </a:extLst>
            </p:cNvPr>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solidFill>
              <a:srgbClr val="000000">
                <a:alpha val="0"/>
              </a:srgbClr>
            </a:solidFill>
          </p:spPr>
          <p:txBody>
            <a:bodyPr/>
            <a:lstStyle/>
            <a:p>
              <a:endParaRPr lang="en-IN"/>
            </a:p>
          </p:txBody>
        </p:sp>
        <p:sp>
          <p:nvSpPr>
            <p:cNvPr id="12" name="TextBox 12">
              <a:extLst>
                <a:ext uri="{FF2B5EF4-FFF2-40B4-BE49-F238E27FC236}">
                  <a16:creationId xmlns:a16="http://schemas.microsoft.com/office/drawing/2014/main" id="{FB9BDFE3-43E7-0B40-DB07-DA64785AF6C7}"/>
                </a:ext>
              </a:extLst>
            </p:cNvPr>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2</a:t>
              </a:r>
            </a:p>
          </p:txBody>
        </p:sp>
      </p:grpSp>
      <p:grpSp>
        <p:nvGrpSpPr>
          <p:cNvPr id="13" name="Group 13">
            <a:extLst>
              <a:ext uri="{FF2B5EF4-FFF2-40B4-BE49-F238E27FC236}">
                <a16:creationId xmlns:a16="http://schemas.microsoft.com/office/drawing/2014/main" id="{AEC02DAC-C907-651A-3ACA-A713483B6408}"/>
              </a:ext>
            </a:extLst>
          </p:cNvPr>
          <p:cNvGrpSpPr/>
          <p:nvPr/>
        </p:nvGrpSpPr>
        <p:grpSpPr>
          <a:xfrm>
            <a:off x="6972300" y="9534530"/>
            <a:ext cx="4806000" cy="547688"/>
            <a:chOff x="0" y="0"/>
            <a:chExt cx="6408000" cy="730250"/>
          </a:xfrm>
        </p:grpSpPr>
        <p:sp>
          <p:nvSpPr>
            <p:cNvPr id="14" name="Freeform 14">
              <a:extLst>
                <a:ext uri="{FF2B5EF4-FFF2-40B4-BE49-F238E27FC236}">
                  <a16:creationId xmlns:a16="http://schemas.microsoft.com/office/drawing/2014/main" id="{52BB1487-DBBB-B83D-3866-06C6254A9312}"/>
                </a:ext>
              </a:extLst>
            </p:cNvPr>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solidFill>
              <a:srgbClr val="000000">
                <a:alpha val="0"/>
              </a:srgbClr>
            </a:solidFill>
          </p:spPr>
          <p:txBody>
            <a:bodyPr/>
            <a:lstStyle/>
            <a:p>
              <a:endParaRPr lang="en-IN"/>
            </a:p>
          </p:txBody>
        </p:sp>
        <p:sp>
          <p:nvSpPr>
            <p:cNvPr id="15" name="TextBox 15">
              <a:extLst>
                <a:ext uri="{FF2B5EF4-FFF2-40B4-BE49-F238E27FC236}">
                  <a16:creationId xmlns:a16="http://schemas.microsoft.com/office/drawing/2014/main" id="{575CFA4D-C892-12BF-5A03-1946B7241B91}"/>
                </a:ext>
              </a:extLst>
            </p:cNvPr>
            <p:cNvSpPr txBox="1"/>
            <p:nvPr/>
          </p:nvSpPr>
          <p:spPr>
            <a:xfrm>
              <a:off x="0" y="-19050"/>
              <a:ext cx="6408000"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@Hack4Industry Elimination Round- Template</a:t>
              </a:r>
            </a:p>
          </p:txBody>
        </p:sp>
      </p:grpSp>
      <p:grpSp>
        <p:nvGrpSpPr>
          <p:cNvPr id="16" name="Group 16">
            <a:extLst>
              <a:ext uri="{FF2B5EF4-FFF2-40B4-BE49-F238E27FC236}">
                <a16:creationId xmlns:a16="http://schemas.microsoft.com/office/drawing/2014/main" id="{846C0876-D9A7-E994-C1E1-6E1F59F1381B}"/>
              </a:ext>
            </a:extLst>
          </p:cNvPr>
          <p:cNvGrpSpPr/>
          <p:nvPr/>
        </p:nvGrpSpPr>
        <p:grpSpPr>
          <a:xfrm>
            <a:off x="475610" y="359319"/>
            <a:ext cx="1915886" cy="1249101"/>
            <a:chOff x="0" y="0"/>
            <a:chExt cx="2554514" cy="1665468"/>
          </a:xfrm>
        </p:grpSpPr>
        <p:sp>
          <p:nvSpPr>
            <p:cNvPr id="17" name="Freeform 17" descr="Your startup LOGO">
              <a:extLst>
                <a:ext uri="{FF2B5EF4-FFF2-40B4-BE49-F238E27FC236}">
                  <a16:creationId xmlns:a16="http://schemas.microsoft.com/office/drawing/2014/main" id="{C8273E3E-247E-237E-EB0D-20C194924E94}"/>
                </a:ext>
              </a:extLst>
            </p:cNvPr>
            <p:cNvSpPr/>
            <p:nvPr/>
          </p:nvSpPr>
          <p:spPr>
            <a:xfrm>
              <a:off x="25400" y="25400"/>
              <a:ext cx="2503678" cy="1614678"/>
            </a:xfrm>
            <a:custGeom>
              <a:avLst/>
              <a:gdLst/>
              <a:ahLst/>
              <a:cxnLst/>
              <a:rect l="l" t="t" r="r" b="b"/>
              <a:pathLst>
                <a:path w="2503678" h="1614678">
                  <a:moveTo>
                    <a:pt x="0" y="807339"/>
                  </a:moveTo>
                  <a:cubicBezTo>
                    <a:pt x="0" y="361442"/>
                    <a:pt x="560451" y="0"/>
                    <a:pt x="1251839" y="0"/>
                  </a:cubicBezTo>
                  <a:cubicBezTo>
                    <a:pt x="1943227" y="0"/>
                    <a:pt x="2503678" y="361442"/>
                    <a:pt x="2503678" y="807339"/>
                  </a:cubicBezTo>
                  <a:cubicBezTo>
                    <a:pt x="2503678" y="1253236"/>
                    <a:pt x="1943227" y="1614678"/>
                    <a:pt x="1251839" y="1614678"/>
                  </a:cubicBezTo>
                  <a:cubicBezTo>
                    <a:pt x="560451" y="1614678"/>
                    <a:pt x="0" y="1253236"/>
                    <a:pt x="0" y="807339"/>
                  </a:cubicBezTo>
                  <a:close/>
                </a:path>
              </a:pathLst>
            </a:custGeom>
            <a:solidFill>
              <a:srgbClr val="FFFFFF"/>
            </a:solidFill>
          </p:spPr>
          <p:txBody>
            <a:bodyPr/>
            <a:lstStyle/>
            <a:p>
              <a:endParaRPr lang="en-IN"/>
            </a:p>
          </p:txBody>
        </p:sp>
        <p:sp>
          <p:nvSpPr>
            <p:cNvPr id="18" name="Freeform 18" descr="Your startup LOGO">
              <a:extLst>
                <a:ext uri="{FF2B5EF4-FFF2-40B4-BE49-F238E27FC236}">
                  <a16:creationId xmlns:a16="http://schemas.microsoft.com/office/drawing/2014/main" id="{71BF9C5D-67DE-58F8-3489-6AFB47446E31}"/>
                </a:ext>
              </a:extLst>
            </p:cNvPr>
            <p:cNvSpPr/>
            <p:nvPr/>
          </p:nvSpPr>
          <p:spPr>
            <a:xfrm>
              <a:off x="0" y="0"/>
              <a:ext cx="2554478" cy="1665478"/>
            </a:xfrm>
            <a:custGeom>
              <a:avLst/>
              <a:gdLst/>
              <a:ahLst/>
              <a:cxnLst/>
              <a:rect l="l" t="t" r="r" b="b"/>
              <a:pathLst>
                <a:path w="2554478" h="1665478">
                  <a:moveTo>
                    <a:pt x="0" y="832739"/>
                  </a:moveTo>
                  <a:cubicBezTo>
                    <a:pt x="0" y="363855"/>
                    <a:pt x="583057" y="0"/>
                    <a:pt x="1277239" y="0"/>
                  </a:cubicBezTo>
                  <a:cubicBezTo>
                    <a:pt x="1971421" y="0"/>
                    <a:pt x="2554478" y="363855"/>
                    <a:pt x="2554478" y="832739"/>
                  </a:cubicBezTo>
                  <a:lnTo>
                    <a:pt x="2529078" y="832739"/>
                  </a:lnTo>
                  <a:lnTo>
                    <a:pt x="2554478" y="832739"/>
                  </a:lnTo>
                  <a:cubicBezTo>
                    <a:pt x="2554478" y="1301623"/>
                    <a:pt x="1971421" y="1665478"/>
                    <a:pt x="1277239" y="1665478"/>
                  </a:cubicBezTo>
                  <a:lnTo>
                    <a:pt x="1277239" y="1640078"/>
                  </a:lnTo>
                  <a:lnTo>
                    <a:pt x="1277239" y="1665478"/>
                  </a:lnTo>
                  <a:cubicBezTo>
                    <a:pt x="583057" y="1665478"/>
                    <a:pt x="0" y="1301623"/>
                    <a:pt x="0" y="832739"/>
                  </a:cubicBezTo>
                  <a:lnTo>
                    <a:pt x="25400" y="832739"/>
                  </a:lnTo>
                  <a:lnTo>
                    <a:pt x="50800" y="832739"/>
                  </a:lnTo>
                  <a:lnTo>
                    <a:pt x="25400" y="832739"/>
                  </a:lnTo>
                  <a:lnTo>
                    <a:pt x="0" y="832739"/>
                  </a:lnTo>
                  <a:moveTo>
                    <a:pt x="50800" y="832739"/>
                  </a:moveTo>
                  <a:cubicBezTo>
                    <a:pt x="50800" y="846709"/>
                    <a:pt x="39370" y="858139"/>
                    <a:pt x="25400" y="858139"/>
                  </a:cubicBezTo>
                  <a:cubicBezTo>
                    <a:pt x="11430" y="858139"/>
                    <a:pt x="0" y="846709"/>
                    <a:pt x="0" y="832739"/>
                  </a:cubicBezTo>
                  <a:cubicBezTo>
                    <a:pt x="0" y="818769"/>
                    <a:pt x="11430" y="807339"/>
                    <a:pt x="25400" y="807339"/>
                  </a:cubicBezTo>
                  <a:cubicBezTo>
                    <a:pt x="39370" y="807339"/>
                    <a:pt x="50800" y="818769"/>
                    <a:pt x="50800" y="832739"/>
                  </a:cubicBezTo>
                  <a:cubicBezTo>
                    <a:pt x="50800" y="1255522"/>
                    <a:pt x="588772" y="1614678"/>
                    <a:pt x="1277239" y="1614678"/>
                  </a:cubicBezTo>
                  <a:cubicBezTo>
                    <a:pt x="1965706" y="1614678"/>
                    <a:pt x="2503678" y="1255522"/>
                    <a:pt x="2503678" y="832739"/>
                  </a:cubicBezTo>
                  <a:cubicBezTo>
                    <a:pt x="2503678" y="409956"/>
                    <a:pt x="1965833" y="50800"/>
                    <a:pt x="1277239" y="50800"/>
                  </a:cubicBezTo>
                  <a:lnTo>
                    <a:pt x="1277239" y="25400"/>
                  </a:lnTo>
                  <a:lnTo>
                    <a:pt x="1277239" y="50800"/>
                  </a:lnTo>
                  <a:cubicBezTo>
                    <a:pt x="588772" y="50800"/>
                    <a:pt x="50800" y="409956"/>
                    <a:pt x="50800" y="832739"/>
                  </a:cubicBezTo>
                  <a:close/>
                </a:path>
              </a:pathLst>
            </a:custGeom>
            <a:solidFill>
              <a:srgbClr val="8064A2"/>
            </a:solidFill>
          </p:spPr>
          <p:txBody>
            <a:bodyPr/>
            <a:lstStyle/>
            <a:p>
              <a:endParaRPr lang="en-IN"/>
            </a:p>
          </p:txBody>
        </p:sp>
        <p:sp>
          <p:nvSpPr>
            <p:cNvPr id="19" name="TextBox 19">
              <a:extLst>
                <a:ext uri="{FF2B5EF4-FFF2-40B4-BE49-F238E27FC236}">
                  <a16:creationId xmlns:a16="http://schemas.microsoft.com/office/drawing/2014/main" id="{0703B36E-EA5D-182C-EF1D-8A0935B7764F}"/>
                </a:ext>
              </a:extLst>
            </p:cNvPr>
            <p:cNvSpPr txBox="1"/>
            <p:nvPr/>
          </p:nvSpPr>
          <p:spPr>
            <a:xfrm>
              <a:off x="0" y="-57150"/>
              <a:ext cx="2554514" cy="1722618"/>
            </a:xfrm>
            <a:prstGeom prst="rect">
              <a:avLst/>
            </a:prstGeom>
          </p:spPr>
          <p:txBody>
            <a:bodyPr lIns="50800" tIns="50800" rIns="50800" bIns="50800" rtlCol="0" anchor="ctr"/>
            <a:lstStyle/>
            <a:p>
              <a:pPr algn="ctr">
                <a:lnSpc>
                  <a:spcPts val="3240"/>
                </a:lnSpc>
              </a:pPr>
              <a:r>
                <a:rPr lang="en-US" sz="2700" dirty="0">
                  <a:solidFill>
                    <a:srgbClr val="000000"/>
                  </a:solidFill>
                  <a:latin typeface="Calibri (MS)"/>
                  <a:ea typeface="Calibri (MS)"/>
                  <a:cs typeface="Calibri (MS)"/>
                  <a:sym typeface="Calibri (MS)"/>
                </a:rPr>
                <a:t>Team </a:t>
              </a:r>
              <a:r>
                <a:rPr lang="en-US" sz="2700" dirty="0" err="1">
                  <a:solidFill>
                    <a:srgbClr val="000000"/>
                  </a:solidFill>
                  <a:latin typeface="Calibri (MS)"/>
                  <a:ea typeface="Calibri (MS)"/>
                  <a:cs typeface="Calibri (MS)"/>
                  <a:sym typeface="Calibri (MS)"/>
                </a:rPr>
                <a:t>Omniscients</a:t>
              </a:r>
              <a:endParaRPr lang="en-US" sz="2700" dirty="0">
                <a:solidFill>
                  <a:srgbClr val="000000"/>
                </a:solidFill>
                <a:latin typeface="Calibri (MS)"/>
                <a:ea typeface="Calibri (MS)"/>
                <a:cs typeface="Calibri (MS)"/>
                <a:sym typeface="Calibri (MS)"/>
              </a:endParaRPr>
            </a:p>
          </p:txBody>
        </p:sp>
      </p:grpSp>
      <p:sp>
        <p:nvSpPr>
          <p:cNvPr id="20" name="Freeform 20">
            <a:extLst>
              <a:ext uri="{FF2B5EF4-FFF2-40B4-BE49-F238E27FC236}">
                <a16:creationId xmlns:a16="http://schemas.microsoft.com/office/drawing/2014/main" id="{968DA90E-19E9-495B-2EC3-F9E999402341}"/>
              </a:ext>
            </a:extLst>
          </p:cNvPr>
          <p:cNvSpPr/>
          <p:nvPr/>
        </p:nvSpPr>
        <p:spPr>
          <a:xfrm>
            <a:off x="16145568" y="0"/>
            <a:ext cx="2053284" cy="2657973"/>
          </a:xfrm>
          <a:custGeom>
            <a:avLst/>
            <a:gdLst/>
            <a:ahLst/>
            <a:cxnLst/>
            <a:rect l="l" t="t" r="r" b="b"/>
            <a:pathLst>
              <a:path w="2053284" h="2657973">
                <a:moveTo>
                  <a:pt x="0" y="0"/>
                </a:moveTo>
                <a:lnTo>
                  <a:pt x="2053284" y="0"/>
                </a:lnTo>
                <a:lnTo>
                  <a:pt x="2053284" y="2657973"/>
                </a:lnTo>
                <a:lnTo>
                  <a:pt x="0" y="2657973"/>
                </a:lnTo>
                <a:lnTo>
                  <a:pt x="0" y="0"/>
                </a:lnTo>
                <a:close/>
              </a:path>
            </a:pathLst>
          </a:custGeom>
          <a:blipFill>
            <a:blip r:embed="rId2"/>
            <a:stretch>
              <a:fillRect/>
            </a:stretch>
          </a:blipFill>
        </p:spPr>
        <p:txBody>
          <a:bodyPr/>
          <a:lstStyle/>
          <a:p>
            <a:endParaRPr lang="en-IN"/>
          </a:p>
        </p:txBody>
      </p:sp>
      <p:sp>
        <p:nvSpPr>
          <p:cNvPr id="21" name="TextBox 20">
            <a:extLst>
              <a:ext uri="{FF2B5EF4-FFF2-40B4-BE49-F238E27FC236}">
                <a16:creationId xmlns:a16="http://schemas.microsoft.com/office/drawing/2014/main" id="{1DBA2992-B9D4-920E-7DFC-6441C8B3C5E5}"/>
              </a:ext>
            </a:extLst>
          </p:cNvPr>
          <p:cNvSpPr txBox="1"/>
          <p:nvPr/>
        </p:nvSpPr>
        <p:spPr>
          <a:xfrm>
            <a:off x="4727782" y="8115300"/>
            <a:ext cx="8610600" cy="707886"/>
          </a:xfrm>
          <a:prstGeom prst="rect">
            <a:avLst/>
          </a:prstGeom>
          <a:noFill/>
        </p:spPr>
        <p:txBody>
          <a:bodyPr wrap="square" rtlCol="0">
            <a:spAutoFit/>
          </a:bodyPr>
          <a:lstStyle/>
          <a:p>
            <a:pPr algn="ctr"/>
            <a:r>
              <a:rPr lang="en-IN" sz="4000" dirty="0"/>
              <a:t>But how does signals change in real life?</a:t>
            </a:r>
          </a:p>
        </p:txBody>
      </p:sp>
    </p:spTree>
    <p:extLst>
      <p:ext uri="{BB962C8B-B14F-4D97-AF65-F5344CB8AC3E}">
        <p14:creationId xmlns:p14="http://schemas.microsoft.com/office/powerpoint/2010/main" val="3015631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9736CCC7-AE96-8899-A6CD-A064D4351B4C}"/>
              </a:ext>
            </a:extLst>
          </p:cNvPr>
          <p:cNvGrpSpPr/>
          <p:nvPr/>
        </p:nvGrpSpPr>
        <p:grpSpPr>
          <a:xfrm>
            <a:off x="0" y="9532143"/>
            <a:ext cx="18287998" cy="754857"/>
            <a:chOff x="0" y="0"/>
            <a:chExt cx="24383998" cy="1006476"/>
          </a:xfrm>
        </p:grpSpPr>
        <p:sp>
          <p:nvSpPr>
            <p:cNvPr id="3" name="Freeform 3">
              <a:extLst>
                <a:ext uri="{FF2B5EF4-FFF2-40B4-BE49-F238E27FC236}">
                  <a16:creationId xmlns:a16="http://schemas.microsoft.com/office/drawing/2014/main" id="{D480062F-E16D-5D44-EF29-07E545D24DF3}"/>
                </a:ext>
              </a:extLst>
            </p:cNvPr>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txBody>
            <a:bodyPr/>
            <a:lstStyle/>
            <a:p>
              <a:endParaRPr lang="en-IN"/>
            </a:p>
          </p:txBody>
        </p:sp>
      </p:grpSp>
      <p:grpSp>
        <p:nvGrpSpPr>
          <p:cNvPr id="4" name="Group 4">
            <a:extLst>
              <a:ext uri="{FF2B5EF4-FFF2-40B4-BE49-F238E27FC236}">
                <a16:creationId xmlns:a16="http://schemas.microsoft.com/office/drawing/2014/main" id="{07FB62E0-B2AA-6D5F-CDD5-D9D69D1D177F}"/>
              </a:ext>
            </a:extLst>
          </p:cNvPr>
          <p:cNvGrpSpPr/>
          <p:nvPr/>
        </p:nvGrpSpPr>
        <p:grpSpPr>
          <a:xfrm>
            <a:off x="510989" y="-78581"/>
            <a:ext cx="21968011" cy="2525210"/>
            <a:chOff x="0" y="-104775"/>
            <a:chExt cx="29290681" cy="3366946"/>
          </a:xfrm>
        </p:grpSpPr>
        <p:sp>
          <p:nvSpPr>
            <p:cNvPr id="5" name="Freeform 5">
              <a:extLst>
                <a:ext uri="{FF2B5EF4-FFF2-40B4-BE49-F238E27FC236}">
                  <a16:creationId xmlns:a16="http://schemas.microsoft.com/office/drawing/2014/main" id="{E951A48B-CD45-E274-5CCE-39A3B963EA83}"/>
                </a:ext>
              </a:extLst>
            </p:cNvPr>
            <p:cNvSpPr/>
            <p:nvPr/>
          </p:nvSpPr>
          <p:spPr>
            <a:xfrm>
              <a:off x="7345081" y="976171"/>
              <a:ext cx="21945600" cy="2286000"/>
            </a:xfrm>
            <a:custGeom>
              <a:avLst/>
              <a:gdLst/>
              <a:ahLst/>
              <a:cxnLst/>
              <a:rect l="l" t="t" r="r" b="b"/>
              <a:pathLst>
                <a:path w="21945600" h="2286000">
                  <a:moveTo>
                    <a:pt x="0" y="0"/>
                  </a:moveTo>
                  <a:lnTo>
                    <a:pt x="21945600" y="0"/>
                  </a:lnTo>
                  <a:lnTo>
                    <a:pt x="21945600" y="2286000"/>
                  </a:lnTo>
                  <a:lnTo>
                    <a:pt x="0" y="2286000"/>
                  </a:lnTo>
                  <a:close/>
                </a:path>
              </a:pathLst>
            </a:custGeom>
            <a:solidFill>
              <a:srgbClr val="000000">
                <a:alpha val="0"/>
              </a:srgbClr>
            </a:solidFill>
          </p:spPr>
          <p:txBody>
            <a:bodyPr/>
            <a:lstStyle/>
            <a:p>
              <a:r>
                <a:rPr lang="en-IN" sz="4400" dirty="0">
                  <a:latin typeface="Times New Roman Bold" panose="02020803070505020304" pitchFamily="18" charset="0"/>
                  <a:cs typeface="Times New Roman Bold" panose="02020803070505020304" pitchFamily="18" charset="0"/>
                </a:rPr>
                <a:t>The Rerouting Solution</a:t>
              </a:r>
            </a:p>
          </p:txBody>
        </p:sp>
        <p:sp>
          <p:nvSpPr>
            <p:cNvPr id="6" name="TextBox 6">
              <a:extLst>
                <a:ext uri="{FF2B5EF4-FFF2-40B4-BE49-F238E27FC236}">
                  <a16:creationId xmlns:a16="http://schemas.microsoft.com/office/drawing/2014/main" id="{7E1415CB-1392-47F5-24BC-F32BBCDB268D}"/>
                </a:ext>
              </a:extLst>
            </p:cNvPr>
            <p:cNvSpPr txBox="1"/>
            <p:nvPr/>
          </p:nvSpPr>
          <p:spPr>
            <a:xfrm>
              <a:off x="0" y="-104775"/>
              <a:ext cx="21945600" cy="2390775"/>
            </a:xfrm>
            <a:prstGeom prst="rect">
              <a:avLst/>
            </a:prstGeom>
          </p:spPr>
          <p:txBody>
            <a:bodyPr lIns="0" tIns="0" rIns="0" bIns="0" rtlCol="0" anchor="ctr"/>
            <a:lstStyle/>
            <a:p>
              <a:pPr algn="ctr">
                <a:lnSpc>
                  <a:spcPts val="6480"/>
                </a:lnSpc>
              </a:pPr>
              <a:endParaRPr sz="3600" dirty="0"/>
            </a:p>
          </p:txBody>
        </p:sp>
      </p:grpSp>
      <p:grpSp>
        <p:nvGrpSpPr>
          <p:cNvPr id="7" name="Group 7">
            <a:extLst>
              <a:ext uri="{FF2B5EF4-FFF2-40B4-BE49-F238E27FC236}">
                <a16:creationId xmlns:a16="http://schemas.microsoft.com/office/drawing/2014/main" id="{FD9EBA2C-6AB5-3FDA-8606-7363FCF481DA}"/>
              </a:ext>
            </a:extLst>
          </p:cNvPr>
          <p:cNvGrpSpPr/>
          <p:nvPr/>
        </p:nvGrpSpPr>
        <p:grpSpPr>
          <a:xfrm>
            <a:off x="-19050" y="2171700"/>
            <a:ext cx="18287998" cy="7348542"/>
            <a:chOff x="0" y="0"/>
            <a:chExt cx="24383998" cy="5470078"/>
          </a:xfrm>
        </p:grpSpPr>
        <p:sp>
          <p:nvSpPr>
            <p:cNvPr id="8" name="Freeform 8">
              <a:extLst>
                <a:ext uri="{FF2B5EF4-FFF2-40B4-BE49-F238E27FC236}">
                  <a16:creationId xmlns:a16="http://schemas.microsoft.com/office/drawing/2014/main" id="{91963C94-9F2F-30DE-1DBF-4E92ED318BBC}"/>
                </a:ext>
              </a:extLst>
            </p:cNvPr>
            <p:cNvSpPr/>
            <p:nvPr/>
          </p:nvSpPr>
          <p:spPr>
            <a:xfrm>
              <a:off x="0" y="0"/>
              <a:ext cx="24383998" cy="5470078"/>
            </a:xfrm>
            <a:custGeom>
              <a:avLst/>
              <a:gdLst/>
              <a:ahLst/>
              <a:cxnLst/>
              <a:rect l="l" t="t" r="r" b="b"/>
              <a:pathLst>
                <a:path w="24383998" h="5470078">
                  <a:moveTo>
                    <a:pt x="0" y="0"/>
                  </a:moveTo>
                  <a:lnTo>
                    <a:pt x="24383998" y="0"/>
                  </a:lnTo>
                  <a:lnTo>
                    <a:pt x="24383998" y="5470078"/>
                  </a:lnTo>
                  <a:lnTo>
                    <a:pt x="0" y="5470078"/>
                  </a:lnTo>
                  <a:close/>
                </a:path>
              </a:pathLst>
            </a:custGeom>
            <a:solidFill>
              <a:srgbClr val="000000">
                <a:alpha val="0"/>
              </a:srgbClr>
            </a:solidFill>
          </p:spPr>
          <p:txBody>
            <a:bodyPr/>
            <a:lstStyle/>
            <a:p>
              <a:pPr marL="342900" indent="-342900">
                <a:buFont typeface="Wingdings" panose="05000000000000000000" pitchFamily="2" charset="2"/>
                <a:buChar char="à"/>
              </a:pPr>
              <a:r>
                <a:rPr lang="en-IN" sz="2800" dirty="0">
                  <a:sym typeface="Wingdings" panose="05000000000000000000" pitchFamily="2" charset="2"/>
                </a:rPr>
                <a:t>First of we have set a </a:t>
              </a:r>
              <a:r>
                <a:rPr lang="en-IN" sz="2800" b="1" dirty="0">
                  <a:sym typeface="Wingdings" panose="05000000000000000000" pitchFamily="2" charset="2"/>
                </a:rPr>
                <a:t>threshold</a:t>
              </a:r>
              <a:r>
                <a:rPr lang="en-IN" sz="2800" dirty="0">
                  <a:sym typeface="Wingdings" panose="05000000000000000000" pitchFamily="2" charset="2"/>
                </a:rPr>
                <a:t> for rerouting.</a:t>
              </a:r>
            </a:p>
            <a:p>
              <a:pPr marL="342900" indent="-342900">
                <a:buFont typeface="Wingdings" panose="05000000000000000000" pitchFamily="2" charset="2"/>
                <a:buChar char="à"/>
              </a:pPr>
              <a:endParaRPr lang="en-IN" sz="2800" dirty="0">
                <a:sym typeface="Wingdings" panose="05000000000000000000" pitchFamily="2" charset="2"/>
              </a:endParaRPr>
            </a:p>
            <a:p>
              <a:pPr marL="342900" indent="-342900">
                <a:buFont typeface="Wingdings" panose="05000000000000000000" pitchFamily="2" charset="2"/>
                <a:buChar char="à"/>
              </a:pPr>
              <a:r>
                <a:rPr lang="en-IN" sz="2800" dirty="0">
                  <a:sym typeface="Wingdings" panose="05000000000000000000" pitchFamily="2" charset="2"/>
                </a:rPr>
                <a:t>If the </a:t>
              </a:r>
              <a:r>
                <a:rPr lang="en-IN" sz="2800" b="1" dirty="0">
                  <a:sym typeface="Wingdings" panose="05000000000000000000" pitchFamily="2" charset="2"/>
                </a:rPr>
                <a:t>time of resolving the congestion </a:t>
              </a:r>
              <a:r>
                <a:rPr lang="en-IN" sz="2800" dirty="0">
                  <a:sym typeface="Wingdings" panose="05000000000000000000" pitchFamily="2" charset="2"/>
                </a:rPr>
                <a:t>or traffic on a particular direction is greater than the </a:t>
              </a:r>
              <a:r>
                <a:rPr lang="en-IN" sz="2800" b="1" dirty="0">
                  <a:sym typeface="Wingdings" panose="05000000000000000000" pitchFamily="2" charset="2"/>
                </a:rPr>
                <a:t>time after rerouting at the previous signal</a:t>
              </a:r>
              <a:r>
                <a:rPr lang="en-IN" sz="2800" dirty="0">
                  <a:sym typeface="Wingdings" panose="05000000000000000000" pitchFamily="2" charset="2"/>
                </a:rPr>
                <a:t>, then,  just </a:t>
              </a:r>
              <a:r>
                <a:rPr lang="en-IN" sz="2800" b="1" dirty="0">
                  <a:sym typeface="Wingdings" panose="05000000000000000000" pitchFamily="2" charset="2"/>
                </a:rPr>
                <a:t>reroute</a:t>
              </a:r>
              <a:r>
                <a:rPr lang="en-IN" sz="2800" dirty="0">
                  <a:sym typeface="Wingdings" panose="05000000000000000000" pitchFamily="2" charset="2"/>
                </a:rPr>
                <a:t> on the </a:t>
              </a:r>
              <a:r>
                <a:rPr lang="en-IN" sz="2800" b="1" dirty="0">
                  <a:sym typeface="Wingdings" panose="05000000000000000000" pitchFamily="2" charset="2"/>
                </a:rPr>
                <a:t>previous signal </a:t>
              </a:r>
              <a:r>
                <a:rPr lang="en-IN" sz="2800" dirty="0">
                  <a:sym typeface="Wingdings" panose="05000000000000000000" pitchFamily="2" charset="2"/>
                </a:rPr>
                <a:t>for the </a:t>
              </a:r>
              <a:r>
                <a:rPr lang="en-IN" sz="2800" b="1" dirty="0">
                  <a:sym typeface="Wingdings" panose="05000000000000000000" pitchFamily="2" charset="2"/>
                </a:rPr>
                <a:t>same direction traffic</a:t>
              </a:r>
              <a:r>
                <a:rPr lang="en-IN" sz="2800" dirty="0">
                  <a:sym typeface="Wingdings" panose="05000000000000000000" pitchFamily="2" charset="2"/>
                </a:rPr>
                <a:t>. So that it </a:t>
              </a:r>
              <a:r>
                <a:rPr lang="en-IN" sz="2800" b="1" dirty="0">
                  <a:sym typeface="Wingdings" panose="05000000000000000000" pitchFamily="2" charset="2"/>
                </a:rPr>
                <a:t>reach the intersection next to the next intersection on time.</a:t>
              </a:r>
            </a:p>
            <a:p>
              <a:pPr marL="342900" indent="-342900">
                <a:buFont typeface="Wingdings" panose="05000000000000000000" pitchFamily="2" charset="2"/>
                <a:buChar char="à"/>
              </a:pPr>
              <a:endParaRPr lang="en-IN" sz="2800" dirty="0">
                <a:sym typeface="Wingdings" panose="05000000000000000000" pitchFamily="2" charset="2"/>
              </a:endParaRPr>
            </a:p>
            <a:p>
              <a:pPr marL="342900" indent="-342900">
                <a:buFont typeface="Wingdings" panose="05000000000000000000" pitchFamily="2" charset="2"/>
                <a:buChar char="à"/>
              </a:pPr>
              <a:r>
                <a:rPr lang="en-IN" sz="2800" dirty="0">
                  <a:sym typeface="Wingdings" panose="05000000000000000000" pitchFamily="2" charset="2"/>
                </a:rPr>
                <a:t>Now I’ll explain it with the help of this</a:t>
              </a:r>
            </a:p>
            <a:p>
              <a:pPr marL="342900" indent="-342900">
                <a:buFont typeface="Wingdings" panose="05000000000000000000" pitchFamily="2" charset="2"/>
                <a:buChar char="à"/>
              </a:pPr>
              <a:endParaRPr lang="en-IN" sz="2800" dirty="0"/>
            </a:p>
          </p:txBody>
        </p:sp>
        <p:sp>
          <p:nvSpPr>
            <p:cNvPr id="9" name="TextBox 9">
              <a:extLst>
                <a:ext uri="{FF2B5EF4-FFF2-40B4-BE49-F238E27FC236}">
                  <a16:creationId xmlns:a16="http://schemas.microsoft.com/office/drawing/2014/main" id="{9147F667-A0F4-EA35-3478-1DF674AFB907}"/>
                </a:ext>
              </a:extLst>
            </p:cNvPr>
            <p:cNvSpPr txBox="1"/>
            <p:nvPr/>
          </p:nvSpPr>
          <p:spPr>
            <a:xfrm>
              <a:off x="0" y="-95250"/>
              <a:ext cx="24383998" cy="5565328"/>
            </a:xfrm>
            <a:prstGeom prst="rect">
              <a:avLst/>
            </a:prstGeom>
          </p:spPr>
          <p:txBody>
            <a:bodyPr lIns="0" tIns="0" rIns="0" bIns="0" rtlCol="0" anchor="t"/>
            <a:lstStyle/>
            <a:p>
              <a:pPr marL="868680" lvl="1" indent="-434340" algn="l">
                <a:lnSpc>
                  <a:spcPts val="5759"/>
                </a:lnSpc>
                <a:buFont typeface="Arial"/>
                <a:buChar char="•"/>
              </a:pPr>
              <a:endParaRPr lang="en-US" sz="2400" dirty="0">
                <a:solidFill>
                  <a:srgbClr val="000000"/>
                </a:solidFill>
                <a:latin typeface="Arial"/>
                <a:ea typeface="Arial"/>
                <a:cs typeface="Arial"/>
                <a:sym typeface="Arial"/>
              </a:endParaRPr>
            </a:p>
          </p:txBody>
        </p:sp>
      </p:grpSp>
      <p:grpSp>
        <p:nvGrpSpPr>
          <p:cNvPr id="10" name="Group 10">
            <a:extLst>
              <a:ext uri="{FF2B5EF4-FFF2-40B4-BE49-F238E27FC236}">
                <a16:creationId xmlns:a16="http://schemas.microsoft.com/office/drawing/2014/main" id="{7A045699-EDCE-F20F-A567-4403BA52B153}"/>
              </a:ext>
            </a:extLst>
          </p:cNvPr>
          <p:cNvGrpSpPr/>
          <p:nvPr/>
        </p:nvGrpSpPr>
        <p:grpSpPr>
          <a:xfrm>
            <a:off x="13106400" y="9534530"/>
            <a:ext cx="4267200" cy="547688"/>
            <a:chOff x="0" y="0"/>
            <a:chExt cx="5689600" cy="730250"/>
          </a:xfrm>
        </p:grpSpPr>
        <p:sp>
          <p:nvSpPr>
            <p:cNvPr id="11" name="Freeform 11">
              <a:extLst>
                <a:ext uri="{FF2B5EF4-FFF2-40B4-BE49-F238E27FC236}">
                  <a16:creationId xmlns:a16="http://schemas.microsoft.com/office/drawing/2014/main" id="{715D0CD1-4C0B-9C70-35B6-2F72CF914A8F}"/>
                </a:ext>
              </a:extLst>
            </p:cNvPr>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solidFill>
              <a:srgbClr val="000000">
                <a:alpha val="0"/>
              </a:srgbClr>
            </a:solidFill>
          </p:spPr>
          <p:txBody>
            <a:bodyPr/>
            <a:lstStyle/>
            <a:p>
              <a:endParaRPr lang="en-IN"/>
            </a:p>
          </p:txBody>
        </p:sp>
        <p:sp>
          <p:nvSpPr>
            <p:cNvPr id="12" name="TextBox 12">
              <a:extLst>
                <a:ext uri="{FF2B5EF4-FFF2-40B4-BE49-F238E27FC236}">
                  <a16:creationId xmlns:a16="http://schemas.microsoft.com/office/drawing/2014/main" id="{409A2AB6-155C-B42F-5A1F-20866BC0FD2B}"/>
                </a:ext>
              </a:extLst>
            </p:cNvPr>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2</a:t>
              </a:r>
            </a:p>
          </p:txBody>
        </p:sp>
      </p:grpSp>
      <p:grpSp>
        <p:nvGrpSpPr>
          <p:cNvPr id="13" name="Group 13">
            <a:extLst>
              <a:ext uri="{FF2B5EF4-FFF2-40B4-BE49-F238E27FC236}">
                <a16:creationId xmlns:a16="http://schemas.microsoft.com/office/drawing/2014/main" id="{314AD7F1-4711-60BE-F096-7A4DD2FB9C02}"/>
              </a:ext>
            </a:extLst>
          </p:cNvPr>
          <p:cNvGrpSpPr/>
          <p:nvPr/>
        </p:nvGrpSpPr>
        <p:grpSpPr>
          <a:xfrm>
            <a:off x="6972300" y="9534530"/>
            <a:ext cx="4806000" cy="547688"/>
            <a:chOff x="0" y="0"/>
            <a:chExt cx="6408000" cy="730250"/>
          </a:xfrm>
        </p:grpSpPr>
        <p:sp>
          <p:nvSpPr>
            <p:cNvPr id="14" name="Freeform 14">
              <a:extLst>
                <a:ext uri="{FF2B5EF4-FFF2-40B4-BE49-F238E27FC236}">
                  <a16:creationId xmlns:a16="http://schemas.microsoft.com/office/drawing/2014/main" id="{15FF11B6-FDB5-028E-90D8-63E229C8E692}"/>
                </a:ext>
              </a:extLst>
            </p:cNvPr>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solidFill>
              <a:srgbClr val="000000">
                <a:alpha val="0"/>
              </a:srgbClr>
            </a:solidFill>
          </p:spPr>
          <p:txBody>
            <a:bodyPr/>
            <a:lstStyle/>
            <a:p>
              <a:endParaRPr lang="en-IN"/>
            </a:p>
          </p:txBody>
        </p:sp>
        <p:sp>
          <p:nvSpPr>
            <p:cNvPr id="15" name="TextBox 15">
              <a:extLst>
                <a:ext uri="{FF2B5EF4-FFF2-40B4-BE49-F238E27FC236}">
                  <a16:creationId xmlns:a16="http://schemas.microsoft.com/office/drawing/2014/main" id="{2697DDD8-00EE-95DA-29AE-D8AF565559D8}"/>
                </a:ext>
              </a:extLst>
            </p:cNvPr>
            <p:cNvSpPr txBox="1"/>
            <p:nvPr/>
          </p:nvSpPr>
          <p:spPr>
            <a:xfrm>
              <a:off x="0" y="-19050"/>
              <a:ext cx="6408000"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@Hack4Industry Elimination Round- Template</a:t>
              </a:r>
            </a:p>
          </p:txBody>
        </p:sp>
      </p:grpSp>
      <p:grpSp>
        <p:nvGrpSpPr>
          <p:cNvPr id="16" name="Group 16">
            <a:extLst>
              <a:ext uri="{FF2B5EF4-FFF2-40B4-BE49-F238E27FC236}">
                <a16:creationId xmlns:a16="http://schemas.microsoft.com/office/drawing/2014/main" id="{B00C0F8E-C8F7-2087-A4A4-2C23442EB151}"/>
              </a:ext>
            </a:extLst>
          </p:cNvPr>
          <p:cNvGrpSpPr/>
          <p:nvPr/>
        </p:nvGrpSpPr>
        <p:grpSpPr>
          <a:xfrm>
            <a:off x="475610" y="359319"/>
            <a:ext cx="1915886" cy="1249101"/>
            <a:chOff x="0" y="0"/>
            <a:chExt cx="2554514" cy="1665468"/>
          </a:xfrm>
        </p:grpSpPr>
        <p:sp>
          <p:nvSpPr>
            <p:cNvPr id="17" name="Freeform 17" descr="Your startup LOGO">
              <a:extLst>
                <a:ext uri="{FF2B5EF4-FFF2-40B4-BE49-F238E27FC236}">
                  <a16:creationId xmlns:a16="http://schemas.microsoft.com/office/drawing/2014/main" id="{0F9E9D8E-D750-30FE-6556-792D26260E51}"/>
                </a:ext>
              </a:extLst>
            </p:cNvPr>
            <p:cNvSpPr/>
            <p:nvPr/>
          </p:nvSpPr>
          <p:spPr>
            <a:xfrm>
              <a:off x="25400" y="25400"/>
              <a:ext cx="2503678" cy="1614678"/>
            </a:xfrm>
            <a:custGeom>
              <a:avLst/>
              <a:gdLst/>
              <a:ahLst/>
              <a:cxnLst/>
              <a:rect l="l" t="t" r="r" b="b"/>
              <a:pathLst>
                <a:path w="2503678" h="1614678">
                  <a:moveTo>
                    <a:pt x="0" y="807339"/>
                  </a:moveTo>
                  <a:cubicBezTo>
                    <a:pt x="0" y="361442"/>
                    <a:pt x="560451" y="0"/>
                    <a:pt x="1251839" y="0"/>
                  </a:cubicBezTo>
                  <a:cubicBezTo>
                    <a:pt x="1943227" y="0"/>
                    <a:pt x="2503678" y="361442"/>
                    <a:pt x="2503678" y="807339"/>
                  </a:cubicBezTo>
                  <a:cubicBezTo>
                    <a:pt x="2503678" y="1253236"/>
                    <a:pt x="1943227" y="1614678"/>
                    <a:pt x="1251839" y="1614678"/>
                  </a:cubicBezTo>
                  <a:cubicBezTo>
                    <a:pt x="560451" y="1614678"/>
                    <a:pt x="0" y="1253236"/>
                    <a:pt x="0" y="807339"/>
                  </a:cubicBezTo>
                  <a:close/>
                </a:path>
              </a:pathLst>
            </a:custGeom>
            <a:solidFill>
              <a:srgbClr val="FFFFFF"/>
            </a:solidFill>
          </p:spPr>
          <p:txBody>
            <a:bodyPr/>
            <a:lstStyle/>
            <a:p>
              <a:endParaRPr lang="en-IN"/>
            </a:p>
          </p:txBody>
        </p:sp>
        <p:sp>
          <p:nvSpPr>
            <p:cNvPr id="18" name="Freeform 18" descr="Your startup LOGO">
              <a:extLst>
                <a:ext uri="{FF2B5EF4-FFF2-40B4-BE49-F238E27FC236}">
                  <a16:creationId xmlns:a16="http://schemas.microsoft.com/office/drawing/2014/main" id="{DD816118-939A-0E83-022A-D8CFA99684EA}"/>
                </a:ext>
              </a:extLst>
            </p:cNvPr>
            <p:cNvSpPr/>
            <p:nvPr/>
          </p:nvSpPr>
          <p:spPr>
            <a:xfrm>
              <a:off x="0" y="0"/>
              <a:ext cx="2554478" cy="1665478"/>
            </a:xfrm>
            <a:custGeom>
              <a:avLst/>
              <a:gdLst/>
              <a:ahLst/>
              <a:cxnLst/>
              <a:rect l="l" t="t" r="r" b="b"/>
              <a:pathLst>
                <a:path w="2554478" h="1665478">
                  <a:moveTo>
                    <a:pt x="0" y="832739"/>
                  </a:moveTo>
                  <a:cubicBezTo>
                    <a:pt x="0" y="363855"/>
                    <a:pt x="583057" y="0"/>
                    <a:pt x="1277239" y="0"/>
                  </a:cubicBezTo>
                  <a:cubicBezTo>
                    <a:pt x="1971421" y="0"/>
                    <a:pt x="2554478" y="363855"/>
                    <a:pt x="2554478" y="832739"/>
                  </a:cubicBezTo>
                  <a:lnTo>
                    <a:pt x="2529078" y="832739"/>
                  </a:lnTo>
                  <a:lnTo>
                    <a:pt x="2554478" y="832739"/>
                  </a:lnTo>
                  <a:cubicBezTo>
                    <a:pt x="2554478" y="1301623"/>
                    <a:pt x="1971421" y="1665478"/>
                    <a:pt x="1277239" y="1665478"/>
                  </a:cubicBezTo>
                  <a:lnTo>
                    <a:pt x="1277239" y="1640078"/>
                  </a:lnTo>
                  <a:lnTo>
                    <a:pt x="1277239" y="1665478"/>
                  </a:lnTo>
                  <a:cubicBezTo>
                    <a:pt x="583057" y="1665478"/>
                    <a:pt x="0" y="1301623"/>
                    <a:pt x="0" y="832739"/>
                  </a:cubicBezTo>
                  <a:lnTo>
                    <a:pt x="25400" y="832739"/>
                  </a:lnTo>
                  <a:lnTo>
                    <a:pt x="50800" y="832739"/>
                  </a:lnTo>
                  <a:lnTo>
                    <a:pt x="25400" y="832739"/>
                  </a:lnTo>
                  <a:lnTo>
                    <a:pt x="0" y="832739"/>
                  </a:lnTo>
                  <a:moveTo>
                    <a:pt x="50800" y="832739"/>
                  </a:moveTo>
                  <a:cubicBezTo>
                    <a:pt x="50800" y="846709"/>
                    <a:pt x="39370" y="858139"/>
                    <a:pt x="25400" y="858139"/>
                  </a:cubicBezTo>
                  <a:cubicBezTo>
                    <a:pt x="11430" y="858139"/>
                    <a:pt x="0" y="846709"/>
                    <a:pt x="0" y="832739"/>
                  </a:cubicBezTo>
                  <a:cubicBezTo>
                    <a:pt x="0" y="818769"/>
                    <a:pt x="11430" y="807339"/>
                    <a:pt x="25400" y="807339"/>
                  </a:cubicBezTo>
                  <a:cubicBezTo>
                    <a:pt x="39370" y="807339"/>
                    <a:pt x="50800" y="818769"/>
                    <a:pt x="50800" y="832739"/>
                  </a:cubicBezTo>
                  <a:cubicBezTo>
                    <a:pt x="50800" y="1255522"/>
                    <a:pt x="588772" y="1614678"/>
                    <a:pt x="1277239" y="1614678"/>
                  </a:cubicBezTo>
                  <a:cubicBezTo>
                    <a:pt x="1965706" y="1614678"/>
                    <a:pt x="2503678" y="1255522"/>
                    <a:pt x="2503678" y="832739"/>
                  </a:cubicBezTo>
                  <a:cubicBezTo>
                    <a:pt x="2503678" y="409956"/>
                    <a:pt x="1965833" y="50800"/>
                    <a:pt x="1277239" y="50800"/>
                  </a:cubicBezTo>
                  <a:lnTo>
                    <a:pt x="1277239" y="25400"/>
                  </a:lnTo>
                  <a:lnTo>
                    <a:pt x="1277239" y="50800"/>
                  </a:lnTo>
                  <a:cubicBezTo>
                    <a:pt x="588772" y="50800"/>
                    <a:pt x="50800" y="409956"/>
                    <a:pt x="50800" y="832739"/>
                  </a:cubicBezTo>
                  <a:close/>
                </a:path>
              </a:pathLst>
            </a:custGeom>
            <a:solidFill>
              <a:srgbClr val="8064A2"/>
            </a:solidFill>
          </p:spPr>
          <p:txBody>
            <a:bodyPr/>
            <a:lstStyle/>
            <a:p>
              <a:endParaRPr lang="en-IN"/>
            </a:p>
          </p:txBody>
        </p:sp>
        <p:sp>
          <p:nvSpPr>
            <p:cNvPr id="19" name="TextBox 19">
              <a:extLst>
                <a:ext uri="{FF2B5EF4-FFF2-40B4-BE49-F238E27FC236}">
                  <a16:creationId xmlns:a16="http://schemas.microsoft.com/office/drawing/2014/main" id="{5F271816-87AB-1DC8-B78A-63D06BE32933}"/>
                </a:ext>
              </a:extLst>
            </p:cNvPr>
            <p:cNvSpPr txBox="1"/>
            <p:nvPr/>
          </p:nvSpPr>
          <p:spPr>
            <a:xfrm>
              <a:off x="0" y="-57150"/>
              <a:ext cx="2554514" cy="1722618"/>
            </a:xfrm>
            <a:prstGeom prst="rect">
              <a:avLst/>
            </a:prstGeom>
          </p:spPr>
          <p:txBody>
            <a:bodyPr lIns="50800" tIns="50800" rIns="50800" bIns="50800" rtlCol="0" anchor="ctr"/>
            <a:lstStyle/>
            <a:p>
              <a:pPr algn="ctr">
                <a:lnSpc>
                  <a:spcPts val="3240"/>
                </a:lnSpc>
              </a:pPr>
              <a:r>
                <a:rPr lang="en-US" sz="2700" dirty="0">
                  <a:solidFill>
                    <a:srgbClr val="000000"/>
                  </a:solidFill>
                  <a:latin typeface="Calibri (MS)"/>
                  <a:ea typeface="Calibri (MS)"/>
                  <a:cs typeface="Calibri (MS)"/>
                  <a:sym typeface="Calibri (MS)"/>
                </a:rPr>
                <a:t>Team </a:t>
              </a:r>
              <a:r>
                <a:rPr lang="en-US" sz="2700" dirty="0" err="1">
                  <a:solidFill>
                    <a:srgbClr val="000000"/>
                  </a:solidFill>
                  <a:latin typeface="Calibri (MS)"/>
                  <a:ea typeface="Calibri (MS)"/>
                  <a:cs typeface="Calibri (MS)"/>
                  <a:sym typeface="Calibri (MS)"/>
                </a:rPr>
                <a:t>Omniscients</a:t>
              </a:r>
              <a:endParaRPr lang="en-US" sz="2700" dirty="0">
                <a:solidFill>
                  <a:srgbClr val="000000"/>
                </a:solidFill>
                <a:latin typeface="Calibri (MS)"/>
                <a:ea typeface="Calibri (MS)"/>
                <a:cs typeface="Calibri (MS)"/>
                <a:sym typeface="Calibri (MS)"/>
              </a:endParaRPr>
            </a:p>
          </p:txBody>
        </p:sp>
      </p:grpSp>
      <p:sp>
        <p:nvSpPr>
          <p:cNvPr id="20" name="Freeform 20">
            <a:extLst>
              <a:ext uri="{FF2B5EF4-FFF2-40B4-BE49-F238E27FC236}">
                <a16:creationId xmlns:a16="http://schemas.microsoft.com/office/drawing/2014/main" id="{3A99E308-77C7-1A09-FEDB-3E36D05B523C}"/>
              </a:ext>
            </a:extLst>
          </p:cNvPr>
          <p:cNvSpPr/>
          <p:nvPr/>
        </p:nvSpPr>
        <p:spPr>
          <a:xfrm>
            <a:off x="16145568" y="0"/>
            <a:ext cx="2053284" cy="2657973"/>
          </a:xfrm>
          <a:custGeom>
            <a:avLst/>
            <a:gdLst/>
            <a:ahLst/>
            <a:cxnLst/>
            <a:rect l="l" t="t" r="r" b="b"/>
            <a:pathLst>
              <a:path w="2053284" h="2657973">
                <a:moveTo>
                  <a:pt x="0" y="0"/>
                </a:moveTo>
                <a:lnTo>
                  <a:pt x="2053284" y="0"/>
                </a:lnTo>
                <a:lnTo>
                  <a:pt x="2053284" y="2657973"/>
                </a:lnTo>
                <a:lnTo>
                  <a:pt x="0" y="2657973"/>
                </a:lnTo>
                <a:lnTo>
                  <a:pt x="0" y="0"/>
                </a:lnTo>
                <a:close/>
              </a:path>
            </a:pathLst>
          </a:custGeom>
          <a:blipFill>
            <a:blip r:embed="rId2"/>
            <a:stretch>
              <a:fillRect/>
            </a:stretch>
          </a:blipFill>
        </p:spPr>
        <p:txBody>
          <a:bodyPr/>
          <a:lstStyle/>
          <a:p>
            <a:endParaRPr lang="en-IN"/>
          </a:p>
        </p:txBody>
      </p:sp>
      <p:pic>
        <p:nvPicPr>
          <p:cNvPr id="22" name="Picture 21">
            <a:extLst>
              <a:ext uri="{FF2B5EF4-FFF2-40B4-BE49-F238E27FC236}">
                <a16:creationId xmlns:a16="http://schemas.microsoft.com/office/drawing/2014/main" id="{CBA04D0B-028B-D406-3F34-B2DCFFF118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6200" y="4229100"/>
            <a:ext cx="8610600" cy="5098262"/>
          </a:xfrm>
          <a:prstGeom prst="rect">
            <a:avLst/>
          </a:prstGeom>
        </p:spPr>
      </p:pic>
    </p:spTree>
    <p:extLst>
      <p:ext uri="{BB962C8B-B14F-4D97-AF65-F5344CB8AC3E}">
        <p14:creationId xmlns:p14="http://schemas.microsoft.com/office/powerpoint/2010/main" val="1308793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3"/>
            <a:ext cx="18287998" cy="754857"/>
            <a:chOff x="0" y="0"/>
            <a:chExt cx="24383998" cy="1006476"/>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txBody>
            <a:bodyPr/>
            <a:lstStyle/>
            <a:p>
              <a:endParaRPr lang="en-IN"/>
            </a:p>
          </p:txBody>
        </p:sp>
      </p:grpSp>
      <p:grpSp>
        <p:nvGrpSpPr>
          <p:cNvPr id="4" name="Group 4"/>
          <p:cNvGrpSpPr/>
          <p:nvPr/>
        </p:nvGrpSpPr>
        <p:grpSpPr>
          <a:xfrm>
            <a:off x="-451397" y="82016"/>
            <a:ext cx="17215397" cy="2027522"/>
            <a:chOff x="-1821063" y="204605"/>
            <a:chExt cx="22953863" cy="2703363"/>
          </a:xfrm>
        </p:grpSpPr>
        <p:sp>
          <p:nvSpPr>
            <p:cNvPr id="5" name="Freeform 5"/>
            <p:cNvSpPr/>
            <p:nvPr/>
          </p:nvSpPr>
          <p:spPr>
            <a:xfrm>
              <a:off x="-1821063" y="204605"/>
              <a:ext cx="21945600" cy="2286000"/>
            </a:xfrm>
            <a:custGeom>
              <a:avLst/>
              <a:gdLst/>
              <a:ahLst/>
              <a:cxnLst/>
              <a:rect l="l" t="t" r="r" b="b"/>
              <a:pathLst>
                <a:path w="21945600" h="2286000">
                  <a:moveTo>
                    <a:pt x="0" y="0"/>
                  </a:moveTo>
                  <a:lnTo>
                    <a:pt x="21945600" y="0"/>
                  </a:lnTo>
                  <a:lnTo>
                    <a:pt x="21945600" y="2286000"/>
                  </a:lnTo>
                  <a:lnTo>
                    <a:pt x="0" y="2286000"/>
                  </a:lnTo>
                  <a:close/>
                </a:path>
              </a:pathLst>
            </a:custGeom>
            <a:solidFill>
              <a:srgbClr val="000000">
                <a:alpha val="0"/>
              </a:srgbClr>
            </a:solidFill>
          </p:spPr>
          <p:txBody>
            <a:bodyPr/>
            <a:lstStyle/>
            <a:p>
              <a:endParaRPr lang="en-IN"/>
            </a:p>
          </p:txBody>
        </p:sp>
        <p:sp>
          <p:nvSpPr>
            <p:cNvPr id="6" name="TextBox 6"/>
            <p:cNvSpPr txBox="1"/>
            <p:nvPr/>
          </p:nvSpPr>
          <p:spPr>
            <a:xfrm>
              <a:off x="2336800" y="517193"/>
              <a:ext cx="18796000" cy="2390775"/>
            </a:xfrm>
            <a:prstGeom prst="rect">
              <a:avLst/>
            </a:prstGeom>
          </p:spPr>
          <p:txBody>
            <a:bodyPr lIns="0" tIns="0" rIns="0" bIns="0" rtlCol="0" anchor="ctr"/>
            <a:lstStyle/>
            <a:p>
              <a:pPr algn="ctr">
                <a:lnSpc>
                  <a:spcPts val="6480"/>
                </a:lnSpc>
              </a:pPr>
              <a:r>
                <a:rPr lang="en-US" sz="5400" b="1" dirty="0">
                  <a:solidFill>
                    <a:srgbClr val="000000"/>
                  </a:solidFill>
                  <a:latin typeface="Times New Roman Bold"/>
                  <a:ea typeface="Times New Roman Bold"/>
                  <a:cs typeface="Times New Roman Bold"/>
                  <a:sym typeface="Times New Roman Bold"/>
                </a:rPr>
                <a:t> UNIQUENESS</a:t>
              </a:r>
            </a:p>
          </p:txBody>
        </p:sp>
      </p:grpSp>
      <p:grpSp>
        <p:nvGrpSpPr>
          <p:cNvPr id="7" name="Group 7"/>
          <p:cNvGrpSpPr/>
          <p:nvPr/>
        </p:nvGrpSpPr>
        <p:grpSpPr>
          <a:xfrm>
            <a:off x="762000" y="2343979"/>
            <a:ext cx="14772261" cy="3461410"/>
            <a:chOff x="-233563" y="-1929332"/>
            <a:chExt cx="19696348" cy="4615211"/>
          </a:xfrm>
        </p:grpSpPr>
        <p:sp>
          <p:nvSpPr>
            <p:cNvPr id="8" name="Freeform 8"/>
            <p:cNvSpPr/>
            <p:nvPr/>
          </p:nvSpPr>
          <p:spPr>
            <a:xfrm>
              <a:off x="692185" y="-84111"/>
              <a:ext cx="18770600" cy="2769990"/>
            </a:xfrm>
            <a:custGeom>
              <a:avLst/>
              <a:gdLst/>
              <a:ahLst/>
              <a:cxnLst/>
              <a:rect l="l" t="t" r="r" b="b"/>
              <a:pathLst>
                <a:path w="18770600" h="2769990">
                  <a:moveTo>
                    <a:pt x="0" y="0"/>
                  </a:moveTo>
                  <a:lnTo>
                    <a:pt x="18770600" y="0"/>
                  </a:lnTo>
                  <a:lnTo>
                    <a:pt x="18770600" y="2769990"/>
                  </a:lnTo>
                  <a:lnTo>
                    <a:pt x="0" y="2769990"/>
                  </a:lnTo>
                  <a:close/>
                </a:path>
              </a:pathLst>
            </a:custGeom>
            <a:solidFill>
              <a:srgbClr val="000000">
                <a:alpha val="0"/>
              </a:srgbClr>
            </a:solidFill>
          </p:spPr>
          <p:txBody>
            <a:bodyPr/>
            <a:lstStyle/>
            <a:p>
              <a:endParaRPr lang="en-IN" sz="3200" dirty="0"/>
            </a:p>
          </p:txBody>
        </p:sp>
        <p:sp>
          <p:nvSpPr>
            <p:cNvPr id="9" name="TextBox 9"/>
            <p:cNvSpPr txBox="1"/>
            <p:nvPr/>
          </p:nvSpPr>
          <p:spPr>
            <a:xfrm>
              <a:off x="-233563" y="-1929332"/>
              <a:ext cx="18770600" cy="2855715"/>
            </a:xfrm>
            <a:prstGeom prst="rect">
              <a:avLst/>
            </a:prstGeom>
          </p:spPr>
          <p:txBody>
            <a:bodyPr lIns="0" tIns="0" rIns="0" bIns="0" rtlCol="0" anchor="t"/>
            <a:lstStyle/>
            <a:p>
              <a:pPr marL="760095" lvl="1" indent="-380048" algn="just">
                <a:lnSpc>
                  <a:spcPts val="5040"/>
                </a:lnSpc>
                <a:buFont typeface="Arial"/>
                <a:buChar char="•"/>
              </a:pPr>
              <a:r>
                <a:rPr lang="en-US" sz="3200" b="1" dirty="0">
                  <a:solidFill>
                    <a:srgbClr val="000000"/>
                  </a:solidFill>
                  <a:latin typeface="Arial"/>
                  <a:ea typeface="Arial"/>
                  <a:cs typeface="Arial"/>
                  <a:sym typeface="Arial"/>
                </a:rPr>
                <a:t>Uniqueness: Why PSO only?</a:t>
              </a:r>
            </a:p>
            <a:p>
              <a:pPr marL="951547" lvl="1" indent="-571500" algn="just">
                <a:lnSpc>
                  <a:spcPts val="5040"/>
                </a:lnSpc>
                <a:buFont typeface="Wingdings" panose="05000000000000000000" pitchFamily="2" charset="2"/>
                <a:buChar char="à"/>
              </a:pPr>
              <a:r>
                <a:rPr lang="en-US" sz="3200" dirty="0">
                  <a:solidFill>
                    <a:srgbClr val="000000"/>
                  </a:solidFill>
                  <a:latin typeface="Arial"/>
                  <a:ea typeface="Arial"/>
                  <a:cs typeface="Arial"/>
                  <a:sym typeface="Arial"/>
                </a:rPr>
                <a:t>Works best for dynamic adaptation.</a:t>
              </a:r>
            </a:p>
            <a:p>
              <a:pPr marL="951547" lvl="1" indent="-571500" algn="just">
                <a:lnSpc>
                  <a:spcPts val="5040"/>
                </a:lnSpc>
                <a:buFont typeface="Wingdings" panose="05000000000000000000" pitchFamily="2" charset="2"/>
                <a:buChar char="à"/>
              </a:pPr>
              <a:r>
                <a:rPr lang="en-US" sz="3200" dirty="0">
                  <a:solidFill>
                    <a:srgbClr val="000000"/>
                  </a:solidFill>
                  <a:latin typeface="Arial"/>
                  <a:ea typeface="Arial"/>
                  <a:cs typeface="Arial"/>
                  <a:sym typeface="Arial"/>
                </a:rPr>
                <a:t>It reaches optimal solution in a fewer steps.</a:t>
              </a:r>
            </a:p>
            <a:p>
              <a:pPr marL="951547" lvl="1" indent="-571500" algn="just">
                <a:lnSpc>
                  <a:spcPts val="5040"/>
                </a:lnSpc>
                <a:buFont typeface="Wingdings" panose="05000000000000000000" pitchFamily="2" charset="2"/>
                <a:buChar char="à"/>
              </a:pPr>
              <a:r>
                <a:rPr lang="en-US" sz="3200" dirty="0">
                  <a:solidFill>
                    <a:srgbClr val="000000"/>
                  </a:solidFill>
                  <a:latin typeface="Arial"/>
                  <a:ea typeface="Arial"/>
                  <a:cs typeface="Arial"/>
                  <a:sym typeface="Arial"/>
                </a:rPr>
                <a:t>Implements multi-intersection PSO means adjacent intersection also optimize together.</a:t>
              </a:r>
            </a:p>
            <a:p>
              <a:pPr marL="951547" lvl="1" indent="-571500" algn="just">
                <a:lnSpc>
                  <a:spcPts val="5040"/>
                </a:lnSpc>
                <a:buFont typeface="Wingdings" panose="05000000000000000000" pitchFamily="2" charset="2"/>
                <a:buChar char="à"/>
              </a:pPr>
              <a:endParaRPr lang="en-US" sz="3200" dirty="0">
                <a:solidFill>
                  <a:srgbClr val="000000"/>
                </a:solidFill>
                <a:latin typeface="Arial"/>
                <a:ea typeface="Arial"/>
                <a:cs typeface="Arial"/>
                <a:sym typeface="Arial"/>
              </a:endParaRPr>
            </a:p>
          </p:txBody>
        </p:sp>
      </p:grpSp>
      <p:grpSp>
        <p:nvGrpSpPr>
          <p:cNvPr id="10" name="Group 10"/>
          <p:cNvGrpSpPr/>
          <p:nvPr/>
        </p:nvGrpSpPr>
        <p:grpSpPr>
          <a:xfrm>
            <a:off x="13106400" y="9534530"/>
            <a:ext cx="4267200" cy="547688"/>
            <a:chOff x="0" y="0"/>
            <a:chExt cx="5689600" cy="730250"/>
          </a:xfrm>
        </p:grpSpPr>
        <p:sp>
          <p:nvSpPr>
            <p:cNvPr id="11" name="Freeform 11"/>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solidFill>
              <a:srgbClr val="000000">
                <a:alpha val="0"/>
              </a:srgbClr>
            </a:solidFill>
          </p:spPr>
          <p:txBody>
            <a:bodyPr/>
            <a:lstStyle/>
            <a:p>
              <a:endParaRPr lang="en-IN"/>
            </a:p>
          </p:txBody>
        </p:sp>
        <p:sp>
          <p:nvSpPr>
            <p:cNvPr id="12" name="TextBox 12"/>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4</a:t>
              </a:r>
            </a:p>
          </p:txBody>
        </p:sp>
      </p:grpSp>
      <p:grpSp>
        <p:nvGrpSpPr>
          <p:cNvPr id="13" name="Group 13"/>
          <p:cNvGrpSpPr/>
          <p:nvPr/>
        </p:nvGrpSpPr>
        <p:grpSpPr>
          <a:xfrm>
            <a:off x="475610" y="359319"/>
            <a:ext cx="1915886" cy="1249101"/>
            <a:chOff x="0" y="0"/>
            <a:chExt cx="2554514" cy="1665468"/>
          </a:xfrm>
        </p:grpSpPr>
        <p:sp>
          <p:nvSpPr>
            <p:cNvPr id="14" name="Freeform 14" descr="Your startup LOGO"/>
            <p:cNvSpPr/>
            <p:nvPr/>
          </p:nvSpPr>
          <p:spPr>
            <a:xfrm>
              <a:off x="25400" y="25400"/>
              <a:ext cx="2503678" cy="1614678"/>
            </a:xfrm>
            <a:custGeom>
              <a:avLst/>
              <a:gdLst/>
              <a:ahLst/>
              <a:cxnLst/>
              <a:rect l="l" t="t" r="r" b="b"/>
              <a:pathLst>
                <a:path w="2503678" h="1614678">
                  <a:moveTo>
                    <a:pt x="0" y="807339"/>
                  </a:moveTo>
                  <a:cubicBezTo>
                    <a:pt x="0" y="361442"/>
                    <a:pt x="560451" y="0"/>
                    <a:pt x="1251839" y="0"/>
                  </a:cubicBezTo>
                  <a:cubicBezTo>
                    <a:pt x="1943227" y="0"/>
                    <a:pt x="2503678" y="361442"/>
                    <a:pt x="2503678" y="807339"/>
                  </a:cubicBezTo>
                  <a:cubicBezTo>
                    <a:pt x="2503678" y="1253236"/>
                    <a:pt x="1943227" y="1614678"/>
                    <a:pt x="1251839" y="1614678"/>
                  </a:cubicBezTo>
                  <a:cubicBezTo>
                    <a:pt x="560451" y="1614678"/>
                    <a:pt x="0" y="1253236"/>
                    <a:pt x="0" y="807339"/>
                  </a:cubicBezTo>
                  <a:close/>
                </a:path>
              </a:pathLst>
            </a:custGeom>
            <a:solidFill>
              <a:srgbClr val="FFFFFF"/>
            </a:solidFill>
          </p:spPr>
          <p:txBody>
            <a:bodyPr/>
            <a:lstStyle/>
            <a:p>
              <a:endParaRPr lang="en-IN"/>
            </a:p>
          </p:txBody>
        </p:sp>
        <p:sp>
          <p:nvSpPr>
            <p:cNvPr id="15" name="Freeform 15" descr="Your startup LOGO"/>
            <p:cNvSpPr/>
            <p:nvPr/>
          </p:nvSpPr>
          <p:spPr>
            <a:xfrm>
              <a:off x="0" y="0"/>
              <a:ext cx="2554478" cy="1665478"/>
            </a:xfrm>
            <a:custGeom>
              <a:avLst/>
              <a:gdLst/>
              <a:ahLst/>
              <a:cxnLst/>
              <a:rect l="l" t="t" r="r" b="b"/>
              <a:pathLst>
                <a:path w="2554478" h="1665478">
                  <a:moveTo>
                    <a:pt x="0" y="832739"/>
                  </a:moveTo>
                  <a:cubicBezTo>
                    <a:pt x="0" y="363855"/>
                    <a:pt x="583057" y="0"/>
                    <a:pt x="1277239" y="0"/>
                  </a:cubicBezTo>
                  <a:cubicBezTo>
                    <a:pt x="1971421" y="0"/>
                    <a:pt x="2554478" y="363855"/>
                    <a:pt x="2554478" y="832739"/>
                  </a:cubicBezTo>
                  <a:lnTo>
                    <a:pt x="2529078" y="832739"/>
                  </a:lnTo>
                  <a:lnTo>
                    <a:pt x="2554478" y="832739"/>
                  </a:lnTo>
                  <a:cubicBezTo>
                    <a:pt x="2554478" y="1301623"/>
                    <a:pt x="1971421" y="1665478"/>
                    <a:pt x="1277239" y="1665478"/>
                  </a:cubicBezTo>
                  <a:lnTo>
                    <a:pt x="1277239" y="1640078"/>
                  </a:lnTo>
                  <a:lnTo>
                    <a:pt x="1277239" y="1665478"/>
                  </a:lnTo>
                  <a:cubicBezTo>
                    <a:pt x="583057" y="1665478"/>
                    <a:pt x="0" y="1301623"/>
                    <a:pt x="0" y="832739"/>
                  </a:cubicBezTo>
                  <a:lnTo>
                    <a:pt x="25400" y="832739"/>
                  </a:lnTo>
                  <a:lnTo>
                    <a:pt x="50800" y="832739"/>
                  </a:lnTo>
                  <a:lnTo>
                    <a:pt x="25400" y="832739"/>
                  </a:lnTo>
                  <a:lnTo>
                    <a:pt x="0" y="832739"/>
                  </a:lnTo>
                  <a:moveTo>
                    <a:pt x="50800" y="832739"/>
                  </a:moveTo>
                  <a:cubicBezTo>
                    <a:pt x="50800" y="846709"/>
                    <a:pt x="39370" y="858139"/>
                    <a:pt x="25400" y="858139"/>
                  </a:cubicBezTo>
                  <a:cubicBezTo>
                    <a:pt x="11430" y="858139"/>
                    <a:pt x="0" y="846709"/>
                    <a:pt x="0" y="832739"/>
                  </a:cubicBezTo>
                  <a:cubicBezTo>
                    <a:pt x="0" y="818769"/>
                    <a:pt x="11430" y="807339"/>
                    <a:pt x="25400" y="807339"/>
                  </a:cubicBezTo>
                  <a:cubicBezTo>
                    <a:pt x="39370" y="807339"/>
                    <a:pt x="50800" y="818769"/>
                    <a:pt x="50800" y="832739"/>
                  </a:cubicBezTo>
                  <a:cubicBezTo>
                    <a:pt x="50800" y="1255522"/>
                    <a:pt x="588772" y="1614678"/>
                    <a:pt x="1277239" y="1614678"/>
                  </a:cubicBezTo>
                  <a:cubicBezTo>
                    <a:pt x="1965706" y="1614678"/>
                    <a:pt x="2503678" y="1255522"/>
                    <a:pt x="2503678" y="832739"/>
                  </a:cubicBezTo>
                  <a:cubicBezTo>
                    <a:pt x="2503678" y="409956"/>
                    <a:pt x="1965833" y="50800"/>
                    <a:pt x="1277239" y="50800"/>
                  </a:cubicBezTo>
                  <a:lnTo>
                    <a:pt x="1277239" y="25400"/>
                  </a:lnTo>
                  <a:lnTo>
                    <a:pt x="1277239" y="50800"/>
                  </a:lnTo>
                  <a:cubicBezTo>
                    <a:pt x="588772" y="50800"/>
                    <a:pt x="50800" y="409956"/>
                    <a:pt x="50800" y="832739"/>
                  </a:cubicBezTo>
                  <a:close/>
                </a:path>
              </a:pathLst>
            </a:custGeom>
            <a:solidFill>
              <a:srgbClr val="8064A2"/>
            </a:solidFill>
          </p:spPr>
          <p:txBody>
            <a:bodyPr/>
            <a:lstStyle/>
            <a:p>
              <a:endParaRPr lang="en-IN"/>
            </a:p>
          </p:txBody>
        </p:sp>
        <p:sp>
          <p:nvSpPr>
            <p:cNvPr id="16" name="TextBox 16"/>
            <p:cNvSpPr txBox="1"/>
            <p:nvPr/>
          </p:nvSpPr>
          <p:spPr>
            <a:xfrm>
              <a:off x="0" y="-57150"/>
              <a:ext cx="2554514" cy="1722618"/>
            </a:xfrm>
            <a:prstGeom prst="rect">
              <a:avLst/>
            </a:prstGeom>
          </p:spPr>
          <p:txBody>
            <a:bodyPr lIns="50800" tIns="50800" rIns="50800" bIns="50800" rtlCol="0" anchor="ctr"/>
            <a:lstStyle/>
            <a:p>
              <a:pPr algn="ctr">
                <a:lnSpc>
                  <a:spcPts val="3240"/>
                </a:lnSpc>
              </a:pPr>
              <a:r>
                <a:rPr lang="en-US" sz="2700" dirty="0">
                  <a:solidFill>
                    <a:srgbClr val="000000"/>
                  </a:solidFill>
                  <a:latin typeface="Calibri (MS)"/>
                  <a:ea typeface="Calibri (MS)"/>
                  <a:cs typeface="Calibri (MS)"/>
                  <a:sym typeface="Calibri (MS)"/>
                </a:rPr>
                <a:t>Team </a:t>
              </a:r>
              <a:r>
                <a:rPr lang="en-US" sz="2700" dirty="0" err="1">
                  <a:solidFill>
                    <a:srgbClr val="000000"/>
                  </a:solidFill>
                  <a:latin typeface="Calibri (MS)"/>
                  <a:ea typeface="Calibri (MS)"/>
                  <a:cs typeface="Calibri (MS)"/>
                  <a:sym typeface="Calibri (MS)"/>
                </a:rPr>
                <a:t>Omniscients</a:t>
              </a:r>
              <a:endParaRPr lang="en-US" sz="2700" dirty="0">
                <a:solidFill>
                  <a:srgbClr val="000000"/>
                </a:solidFill>
                <a:latin typeface="Calibri (MS)"/>
                <a:ea typeface="Calibri (MS)"/>
                <a:cs typeface="Calibri (MS)"/>
                <a:sym typeface="Calibri (MS)"/>
              </a:endParaRPr>
            </a:p>
          </p:txBody>
        </p:sp>
      </p:grpSp>
      <p:grpSp>
        <p:nvGrpSpPr>
          <p:cNvPr id="17" name="Group 17"/>
          <p:cNvGrpSpPr/>
          <p:nvPr/>
        </p:nvGrpSpPr>
        <p:grpSpPr>
          <a:xfrm>
            <a:off x="6972300" y="9534530"/>
            <a:ext cx="4806000" cy="547688"/>
            <a:chOff x="0" y="0"/>
            <a:chExt cx="6408000" cy="730250"/>
          </a:xfrm>
        </p:grpSpPr>
        <p:sp>
          <p:nvSpPr>
            <p:cNvPr id="18" name="Freeform 18"/>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solidFill>
              <a:srgbClr val="000000">
                <a:alpha val="0"/>
              </a:srgbClr>
            </a:solidFill>
          </p:spPr>
          <p:txBody>
            <a:bodyPr/>
            <a:lstStyle/>
            <a:p>
              <a:endParaRPr lang="en-IN"/>
            </a:p>
          </p:txBody>
        </p:sp>
        <p:sp>
          <p:nvSpPr>
            <p:cNvPr id="19" name="TextBox 19"/>
            <p:cNvSpPr txBox="1"/>
            <p:nvPr/>
          </p:nvSpPr>
          <p:spPr>
            <a:xfrm>
              <a:off x="0" y="-19050"/>
              <a:ext cx="6408000"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@Hack4Industry Elimination Round- Template</a:t>
              </a:r>
            </a:p>
          </p:txBody>
        </p:sp>
      </p:grpSp>
      <p:sp>
        <p:nvSpPr>
          <p:cNvPr id="20" name="Freeform 20"/>
          <p:cNvSpPr/>
          <p:nvPr/>
        </p:nvSpPr>
        <p:spPr>
          <a:xfrm>
            <a:off x="16145568" y="0"/>
            <a:ext cx="2053284" cy="2657973"/>
          </a:xfrm>
          <a:custGeom>
            <a:avLst/>
            <a:gdLst/>
            <a:ahLst/>
            <a:cxnLst/>
            <a:rect l="l" t="t" r="r" b="b"/>
            <a:pathLst>
              <a:path w="2053284" h="2657973">
                <a:moveTo>
                  <a:pt x="0" y="0"/>
                </a:moveTo>
                <a:lnTo>
                  <a:pt x="2053284" y="0"/>
                </a:lnTo>
                <a:lnTo>
                  <a:pt x="2053284" y="2657973"/>
                </a:lnTo>
                <a:lnTo>
                  <a:pt x="0" y="2657973"/>
                </a:lnTo>
                <a:lnTo>
                  <a:pt x="0" y="0"/>
                </a:lnTo>
                <a:close/>
              </a:path>
            </a:pathLst>
          </a:custGeom>
          <a:blipFill>
            <a:blip r:embed="rId3"/>
            <a:stretch>
              <a:fillRect/>
            </a:stretch>
          </a:blipFill>
        </p:spPr>
        <p:txBody>
          <a:bodyPr/>
          <a:lstStyle/>
          <a:p>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3"/>
            <a:ext cx="18287998" cy="754857"/>
            <a:chOff x="0" y="0"/>
            <a:chExt cx="24383998" cy="1006476"/>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txBody>
            <a:bodyPr/>
            <a:lstStyle/>
            <a:p>
              <a:endParaRPr lang="en-IN"/>
            </a:p>
          </p:txBody>
        </p:sp>
      </p:grpSp>
      <p:grpSp>
        <p:nvGrpSpPr>
          <p:cNvPr id="4" name="Group 4"/>
          <p:cNvGrpSpPr/>
          <p:nvPr/>
        </p:nvGrpSpPr>
        <p:grpSpPr>
          <a:xfrm>
            <a:off x="914400" y="-71438"/>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solidFill>
              <a:srgbClr val="000000">
                <a:alpha val="0"/>
              </a:srgbClr>
            </a:solidFill>
          </p:spPr>
          <p:txBody>
            <a:bodyPr/>
            <a:lstStyle/>
            <a:p>
              <a:endParaRPr lang="en-IN"/>
            </a:p>
          </p:txBody>
        </p:sp>
        <p:sp>
          <p:nvSpPr>
            <p:cNvPr id="6" name="TextBox 6"/>
            <p:cNvSpPr txBox="1"/>
            <p:nvPr/>
          </p:nvSpPr>
          <p:spPr>
            <a:xfrm>
              <a:off x="0" y="-104775"/>
              <a:ext cx="21945600" cy="2390775"/>
            </a:xfrm>
            <a:prstGeom prst="rect">
              <a:avLst/>
            </a:prstGeom>
          </p:spPr>
          <p:txBody>
            <a:bodyPr lIns="0" tIns="0" rIns="0" bIns="0" rtlCol="0" anchor="ctr"/>
            <a:lstStyle/>
            <a:p>
              <a:pPr algn="ctr">
                <a:lnSpc>
                  <a:spcPts val="6480"/>
                </a:lnSpc>
              </a:pPr>
              <a:r>
                <a:rPr lang="en-US" sz="5400" b="1">
                  <a:solidFill>
                    <a:srgbClr val="000000"/>
                  </a:solidFill>
                  <a:latin typeface="Times New Roman Bold"/>
                  <a:ea typeface="Times New Roman Bold"/>
                  <a:cs typeface="Times New Roman Bold"/>
                  <a:sym typeface="Times New Roman Bold"/>
                </a:rPr>
                <a:t>IMPACT AND BENEFITS</a:t>
              </a:r>
            </a:p>
          </p:txBody>
        </p:sp>
      </p:grpSp>
      <p:grpSp>
        <p:nvGrpSpPr>
          <p:cNvPr id="7" name="Group 7"/>
          <p:cNvGrpSpPr/>
          <p:nvPr/>
        </p:nvGrpSpPr>
        <p:grpSpPr>
          <a:xfrm>
            <a:off x="1460753" y="1832871"/>
            <a:ext cx="14230350" cy="3725510"/>
            <a:chOff x="0" y="-2197355"/>
            <a:chExt cx="18973800" cy="4967345"/>
          </a:xfrm>
        </p:grpSpPr>
        <p:sp>
          <p:nvSpPr>
            <p:cNvPr id="8" name="Freeform 8"/>
            <p:cNvSpPr/>
            <p:nvPr/>
          </p:nvSpPr>
          <p:spPr>
            <a:xfrm>
              <a:off x="0" y="0"/>
              <a:ext cx="18770600" cy="2769990"/>
            </a:xfrm>
            <a:custGeom>
              <a:avLst/>
              <a:gdLst/>
              <a:ahLst/>
              <a:cxnLst/>
              <a:rect l="l" t="t" r="r" b="b"/>
              <a:pathLst>
                <a:path w="18770600" h="2769990">
                  <a:moveTo>
                    <a:pt x="0" y="0"/>
                  </a:moveTo>
                  <a:lnTo>
                    <a:pt x="18770600" y="0"/>
                  </a:lnTo>
                  <a:lnTo>
                    <a:pt x="18770600" y="2769990"/>
                  </a:lnTo>
                  <a:lnTo>
                    <a:pt x="0" y="2769990"/>
                  </a:lnTo>
                  <a:close/>
                </a:path>
              </a:pathLst>
            </a:custGeom>
            <a:solidFill>
              <a:srgbClr val="000000">
                <a:alpha val="0"/>
              </a:srgbClr>
            </a:solidFill>
          </p:spPr>
          <p:txBody>
            <a:bodyPr/>
            <a:lstStyle/>
            <a:p>
              <a:endParaRPr lang="en-IN" sz="3200"/>
            </a:p>
          </p:txBody>
        </p:sp>
        <p:sp>
          <p:nvSpPr>
            <p:cNvPr id="9" name="TextBox 9"/>
            <p:cNvSpPr txBox="1"/>
            <p:nvPr/>
          </p:nvSpPr>
          <p:spPr>
            <a:xfrm>
              <a:off x="203200" y="-2197355"/>
              <a:ext cx="18770600" cy="2855715"/>
            </a:xfrm>
            <a:prstGeom prst="rect">
              <a:avLst/>
            </a:prstGeom>
          </p:spPr>
          <p:txBody>
            <a:bodyPr lIns="0" tIns="0" rIns="0" bIns="0" rtlCol="0" anchor="t"/>
            <a:lstStyle/>
            <a:p>
              <a:pPr marL="760095" lvl="1" indent="-380048" algn="just">
                <a:lnSpc>
                  <a:spcPts val="5040"/>
                </a:lnSpc>
                <a:buFont typeface="Arial"/>
                <a:buChar char="•"/>
              </a:pPr>
              <a:r>
                <a:rPr lang="en-US" sz="3200" b="1" dirty="0">
                  <a:solidFill>
                    <a:srgbClr val="000000"/>
                  </a:solidFill>
                  <a:latin typeface="Arial"/>
                  <a:ea typeface="Arial"/>
                  <a:cs typeface="Arial"/>
                  <a:sym typeface="Arial"/>
                </a:rPr>
                <a:t>Potential impact on the target audience:</a:t>
              </a:r>
            </a:p>
            <a:p>
              <a:pPr marL="951547" lvl="1" indent="-571500" algn="just">
                <a:lnSpc>
                  <a:spcPts val="5040"/>
                </a:lnSpc>
                <a:buFont typeface="Wingdings" panose="05000000000000000000" pitchFamily="2" charset="2"/>
                <a:buChar char="à"/>
              </a:pPr>
              <a:r>
                <a:rPr lang="en-US" sz="3200" dirty="0">
                  <a:solidFill>
                    <a:srgbClr val="000000"/>
                  </a:solidFill>
                  <a:latin typeface="Arial"/>
                  <a:ea typeface="Arial"/>
                  <a:cs typeface="Arial"/>
                  <a:sym typeface="Wingdings" panose="05000000000000000000" pitchFamily="2" charset="2"/>
                </a:rPr>
                <a:t>Lower waiting times leading to less fuel consumption.</a:t>
              </a:r>
            </a:p>
            <a:p>
              <a:pPr marL="951547" lvl="1" indent="-571500" algn="just">
                <a:lnSpc>
                  <a:spcPts val="5040"/>
                </a:lnSpc>
                <a:buFont typeface="Wingdings" panose="05000000000000000000" pitchFamily="2" charset="2"/>
                <a:buChar char="à"/>
              </a:pPr>
              <a:r>
                <a:rPr lang="en-US" sz="3200" dirty="0">
                  <a:solidFill>
                    <a:srgbClr val="000000"/>
                  </a:solidFill>
                  <a:latin typeface="Arial"/>
                  <a:ea typeface="Arial"/>
                  <a:cs typeface="Arial"/>
                  <a:sym typeface="Wingdings" panose="05000000000000000000" pitchFamily="2" charset="2"/>
                </a:rPr>
                <a:t>Less dependency on traffic police.</a:t>
              </a:r>
            </a:p>
            <a:p>
              <a:pPr marL="951547" lvl="1" indent="-571500" algn="just">
                <a:lnSpc>
                  <a:spcPts val="5040"/>
                </a:lnSpc>
                <a:buFont typeface="Wingdings" panose="05000000000000000000" pitchFamily="2" charset="2"/>
                <a:buChar char="à"/>
              </a:pPr>
              <a:r>
                <a:rPr lang="en-US" sz="3200" dirty="0">
                  <a:solidFill>
                    <a:srgbClr val="000000"/>
                  </a:solidFill>
                  <a:latin typeface="Arial"/>
                  <a:ea typeface="Arial"/>
                  <a:cs typeface="Arial"/>
                  <a:sym typeface="Wingdings" panose="05000000000000000000" pitchFamily="2" charset="2"/>
                </a:rPr>
                <a:t>Obviously, no more frustration of traffic.</a:t>
              </a:r>
            </a:p>
            <a:p>
              <a:pPr marL="380047" lvl="1" algn="just">
                <a:lnSpc>
                  <a:spcPts val="5040"/>
                </a:lnSpc>
              </a:pPr>
              <a:endParaRPr lang="en-US" sz="3200" dirty="0">
                <a:solidFill>
                  <a:srgbClr val="000000"/>
                </a:solidFill>
                <a:latin typeface="Arial"/>
                <a:ea typeface="Arial"/>
                <a:cs typeface="Arial"/>
                <a:sym typeface="Arial"/>
              </a:endParaRPr>
            </a:p>
            <a:p>
              <a:pPr marL="760095" lvl="1" indent="-380048" algn="just">
                <a:lnSpc>
                  <a:spcPts val="5040"/>
                </a:lnSpc>
                <a:buFont typeface="Arial"/>
                <a:buChar char="•"/>
              </a:pPr>
              <a:r>
                <a:rPr lang="en-US" sz="3200" b="1" dirty="0">
                  <a:solidFill>
                    <a:srgbClr val="000000"/>
                  </a:solidFill>
                  <a:latin typeface="Arial"/>
                  <a:ea typeface="Arial"/>
                  <a:cs typeface="Arial"/>
                  <a:sym typeface="Arial"/>
                </a:rPr>
                <a:t>Benefits of the solution (social, economic, environmental, etc.)</a:t>
              </a:r>
            </a:p>
            <a:p>
              <a:pPr marL="380047" lvl="1" algn="just">
                <a:lnSpc>
                  <a:spcPts val="5040"/>
                </a:lnSpc>
              </a:pPr>
              <a:r>
                <a:rPr lang="en-US" sz="3200" dirty="0">
                  <a:solidFill>
                    <a:srgbClr val="000000"/>
                  </a:solidFill>
                  <a:latin typeface="Arial"/>
                  <a:ea typeface="Arial"/>
                  <a:cs typeface="Arial"/>
                  <a:sym typeface="Wingdings" panose="05000000000000000000" pitchFamily="2" charset="2"/>
                </a:rPr>
                <a:t> </a:t>
              </a:r>
              <a:r>
                <a:rPr lang="en-US" sz="3200" b="1" dirty="0">
                  <a:solidFill>
                    <a:srgbClr val="000000"/>
                  </a:solidFill>
                  <a:latin typeface="Arial"/>
                  <a:ea typeface="Arial"/>
                  <a:cs typeface="Arial"/>
                  <a:sym typeface="Wingdings" panose="05000000000000000000" pitchFamily="2" charset="2"/>
                </a:rPr>
                <a:t>Environmental: </a:t>
              </a:r>
              <a:r>
                <a:rPr lang="en-US" sz="3200" dirty="0">
                  <a:solidFill>
                    <a:srgbClr val="000000"/>
                  </a:solidFill>
                  <a:latin typeface="Arial"/>
                  <a:ea typeface="Arial"/>
                  <a:cs typeface="Arial"/>
                  <a:sym typeface="Wingdings" panose="05000000000000000000" pitchFamily="2" charset="2"/>
                </a:rPr>
                <a:t>Less fuel consumption leading to reduced pollution.</a:t>
              </a:r>
              <a:endParaRPr lang="en-US" sz="3200" dirty="0">
                <a:solidFill>
                  <a:srgbClr val="000000"/>
                </a:solidFill>
                <a:latin typeface="Arial"/>
                <a:ea typeface="Arial"/>
                <a:cs typeface="Arial"/>
                <a:sym typeface="Arial"/>
              </a:endParaRPr>
            </a:p>
            <a:p>
              <a:pPr marL="722947" lvl="1" indent="-342900" algn="just">
                <a:lnSpc>
                  <a:spcPts val="5040"/>
                </a:lnSpc>
                <a:buFont typeface="Wingdings" panose="05000000000000000000" pitchFamily="2" charset="2"/>
                <a:buChar char="à"/>
              </a:pPr>
              <a:r>
                <a:rPr lang="en-US" sz="3200" b="1" dirty="0">
                  <a:solidFill>
                    <a:srgbClr val="000000"/>
                  </a:solidFill>
                  <a:latin typeface="Arial"/>
                  <a:ea typeface="Arial"/>
                  <a:cs typeface="Arial"/>
                  <a:sym typeface="Wingdings" panose="05000000000000000000" pitchFamily="2" charset="2"/>
                </a:rPr>
                <a:t>Economic: </a:t>
              </a:r>
              <a:r>
                <a:rPr lang="en-US" sz="3200" dirty="0">
                  <a:solidFill>
                    <a:srgbClr val="000000"/>
                  </a:solidFill>
                  <a:latin typeface="Arial"/>
                  <a:ea typeface="Arial"/>
                  <a:cs typeface="Arial"/>
                  <a:sym typeface="Wingdings" panose="05000000000000000000" pitchFamily="2" charset="2"/>
                </a:rPr>
                <a:t>Reduced waiting time for industrial vehicles significantly benefit them.</a:t>
              </a:r>
            </a:p>
            <a:p>
              <a:pPr marL="722947" lvl="1" indent="-342900" algn="just">
                <a:lnSpc>
                  <a:spcPts val="5040"/>
                </a:lnSpc>
                <a:buFont typeface="Wingdings" panose="05000000000000000000" pitchFamily="2" charset="2"/>
                <a:buChar char="à"/>
              </a:pPr>
              <a:r>
                <a:rPr lang="en-US" sz="3200" b="1" dirty="0">
                  <a:solidFill>
                    <a:srgbClr val="000000"/>
                  </a:solidFill>
                  <a:latin typeface="Arial"/>
                  <a:ea typeface="Arial"/>
                  <a:cs typeface="Arial"/>
                  <a:sym typeface="Wingdings" panose="05000000000000000000" pitchFamily="2" charset="2"/>
                </a:rPr>
                <a:t>Social: </a:t>
              </a:r>
              <a:r>
                <a:rPr lang="en-US" sz="3200" dirty="0">
                  <a:solidFill>
                    <a:srgbClr val="000000"/>
                  </a:solidFill>
                  <a:latin typeface="Arial"/>
                  <a:ea typeface="Arial"/>
                  <a:cs typeface="Arial"/>
                  <a:sym typeface="Wingdings" panose="05000000000000000000" pitchFamily="2" charset="2"/>
                </a:rPr>
                <a:t>Signals can also be optimized for emergency vehicles crossing.</a:t>
              </a:r>
              <a:endParaRPr lang="en-US" sz="3200" b="1" dirty="0">
                <a:solidFill>
                  <a:srgbClr val="000000"/>
                </a:solidFill>
                <a:latin typeface="Arial"/>
                <a:ea typeface="Arial"/>
                <a:cs typeface="Arial"/>
                <a:sym typeface="Wingdings" panose="05000000000000000000" pitchFamily="2" charset="2"/>
              </a:endParaRPr>
            </a:p>
          </p:txBody>
        </p:sp>
      </p:grpSp>
      <p:grpSp>
        <p:nvGrpSpPr>
          <p:cNvPr id="10" name="Group 10"/>
          <p:cNvGrpSpPr/>
          <p:nvPr/>
        </p:nvGrpSpPr>
        <p:grpSpPr>
          <a:xfrm>
            <a:off x="13106400" y="9534530"/>
            <a:ext cx="4267200" cy="547688"/>
            <a:chOff x="0" y="0"/>
            <a:chExt cx="5689600" cy="730250"/>
          </a:xfrm>
        </p:grpSpPr>
        <p:sp>
          <p:nvSpPr>
            <p:cNvPr id="11" name="Freeform 11"/>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solidFill>
              <a:srgbClr val="000000">
                <a:alpha val="0"/>
              </a:srgbClr>
            </a:solidFill>
          </p:spPr>
          <p:txBody>
            <a:bodyPr/>
            <a:lstStyle/>
            <a:p>
              <a:endParaRPr lang="en-IN"/>
            </a:p>
          </p:txBody>
        </p:sp>
        <p:sp>
          <p:nvSpPr>
            <p:cNvPr id="12" name="TextBox 12"/>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5</a:t>
              </a:r>
            </a:p>
          </p:txBody>
        </p:sp>
      </p:grpSp>
      <p:grpSp>
        <p:nvGrpSpPr>
          <p:cNvPr id="13" name="Group 13"/>
          <p:cNvGrpSpPr/>
          <p:nvPr/>
        </p:nvGrpSpPr>
        <p:grpSpPr>
          <a:xfrm>
            <a:off x="475610" y="359319"/>
            <a:ext cx="1915886" cy="1249101"/>
            <a:chOff x="0" y="0"/>
            <a:chExt cx="2554514" cy="1665468"/>
          </a:xfrm>
        </p:grpSpPr>
        <p:sp>
          <p:nvSpPr>
            <p:cNvPr id="14" name="Freeform 14" descr="Your startup LOGO"/>
            <p:cNvSpPr/>
            <p:nvPr/>
          </p:nvSpPr>
          <p:spPr>
            <a:xfrm>
              <a:off x="25400" y="25400"/>
              <a:ext cx="2503678" cy="1614678"/>
            </a:xfrm>
            <a:custGeom>
              <a:avLst/>
              <a:gdLst/>
              <a:ahLst/>
              <a:cxnLst/>
              <a:rect l="l" t="t" r="r" b="b"/>
              <a:pathLst>
                <a:path w="2503678" h="1614678">
                  <a:moveTo>
                    <a:pt x="0" y="807339"/>
                  </a:moveTo>
                  <a:cubicBezTo>
                    <a:pt x="0" y="361442"/>
                    <a:pt x="560451" y="0"/>
                    <a:pt x="1251839" y="0"/>
                  </a:cubicBezTo>
                  <a:cubicBezTo>
                    <a:pt x="1943227" y="0"/>
                    <a:pt x="2503678" y="361442"/>
                    <a:pt x="2503678" y="807339"/>
                  </a:cubicBezTo>
                  <a:cubicBezTo>
                    <a:pt x="2503678" y="1253236"/>
                    <a:pt x="1943227" y="1614678"/>
                    <a:pt x="1251839" y="1614678"/>
                  </a:cubicBezTo>
                  <a:cubicBezTo>
                    <a:pt x="560451" y="1614678"/>
                    <a:pt x="0" y="1253236"/>
                    <a:pt x="0" y="807339"/>
                  </a:cubicBezTo>
                  <a:close/>
                </a:path>
              </a:pathLst>
            </a:custGeom>
            <a:solidFill>
              <a:srgbClr val="FFFFFF"/>
            </a:solidFill>
          </p:spPr>
          <p:txBody>
            <a:bodyPr/>
            <a:lstStyle/>
            <a:p>
              <a:endParaRPr lang="en-IN"/>
            </a:p>
          </p:txBody>
        </p:sp>
        <p:sp>
          <p:nvSpPr>
            <p:cNvPr id="15" name="Freeform 15" descr="Your startup LOGO"/>
            <p:cNvSpPr/>
            <p:nvPr/>
          </p:nvSpPr>
          <p:spPr>
            <a:xfrm>
              <a:off x="0" y="0"/>
              <a:ext cx="2554478" cy="1665478"/>
            </a:xfrm>
            <a:custGeom>
              <a:avLst/>
              <a:gdLst/>
              <a:ahLst/>
              <a:cxnLst/>
              <a:rect l="l" t="t" r="r" b="b"/>
              <a:pathLst>
                <a:path w="2554478" h="1665478">
                  <a:moveTo>
                    <a:pt x="0" y="832739"/>
                  </a:moveTo>
                  <a:cubicBezTo>
                    <a:pt x="0" y="363855"/>
                    <a:pt x="583057" y="0"/>
                    <a:pt x="1277239" y="0"/>
                  </a:cubicBezTo>
                  <a:cubicBezTo>
                    <a:pt x="1971421" y="0"/>
                    <a:pt x="2554478" y="363855"/>
                    <a:pt x="2554478" y="832739"/>
                  </a:cubicBezTo>
                  <a:lnTo>
                    <a:pt x="2529078" y="832739"/>
                  </a:lnTo>
                  <a:lnTo>
                    <a:pt x="2554478" y="832739"/>
                  </a:lnTo>
                  <a:cubicBezTo>
                    <a:pt x="2554478" y="1301623"/>
                    <a:pt x="1971421" y="1665478"/>
                    <a:pt x="1277239" y="1665478"/>
                  </a:cubicBezTo>
                  <a:lnTo>
                    <a:pt x="1277239" y="1640078"/>
                  </a:lnTo>
                  <a:lnTo>
                    <a:pt x="1277239" y="1665478"/>
                  </a:lnTo>
                  <a:cubicBezTo>
                    <a:pt x="583057" y="1665478"/>
                    <a:pt x="0" y="1301623"/>
                    <a:pt x="0" y="832739"/>
                  </a:cubicBezTo>
                  <a:lnTo>
                    <a:pt x="25400" y="832739"/>
                  </a:lnTo>
                  <a:lnTo>
                    <a:pt x="50800" y="832739"/>
                  </a:lnTo>
                  <a:lnTo>
                    <a:pt x="25400" y="832739"/>
                  </a:lnTo>
                  <a:lnTo>
                    <a:pt x="0" y="832739"/>
                  </a:lnTo>
                  <a:moveTo>
                    <a:pt x="50800" y="832739"/>
                  </a:moveTo>
                  <a:cubicBezTo>
                    <a:pt x="50800" y="846709"/>
                    <a:pt x="39370" y="858139"/>
                    <a:pt x="25400" y="858139"/>
                  </a:cubicBezTo>
                  <a:cubicBezTo>
                    <a:pt x="11430" y="858139"/>
                    <a:pt x="0" y="846709"/>
                    <a:pt x="0" y="832739"/>
                  </a:cubicBezTo>
                  <a:cubicBezTo>
                    <a:pt x="0" y="818769"/>
                    <a:pt x="11430" y="807339"/>
                    <a:pt x="25400" y="807339"/>
                  </a:cubicBezTo>
                  <a:cubicBezTo>
                    <a:pt x="39370" y="807339"/>
                    <a:pt x="50800" y="818769"/>
                    <a:pt x="50800" y="832739"/>
                  </a:cubicBezTo>
                  <a:cubicBezTo>
                    <a:pt x="50800" y="1255522"/>
                    <a:pt x="588772" y="1614678"/>
                    <a:pt x="1277239" y="1614678"/>
                  </a:cubicBezTo>
                  <a:cubicBezTo>
                    <a:pt x="1965706" y="1614678"/>
                    <a:pt x="2503678" y="1255522"/>
                    <a:pt x="2503678" y="832739"/>
                  </a:cubicBezTo>
                  <a:cubicBezTo>
                    <a:pt x="2503678" y="409956"/>
                    <a:pt x="1965833" y="50800"/>
                    <a:pt x="1277239" y="50800"/>
                  </a:cubicBezTo>
                  <a:lnTo>
                    <a:pt x="1277239" y="25400"/>
                  </a:lnTo>
                  <a:lnTo>
                    <a:pt x="1277239" y="50800"/>
                  </a:lnTo>
                  <a:cubicBezTo>
                    <a:pt x="588772" y="50800"/>
                    <a:pt x="50800" y="409956"/>
                    <a:pt x="50800" y="832739"/>
                  </a:cubicBezTo>
                  <a:close/>
                </a:path>
              </a:pathLst>
            </a:custGeom>
            <a:solidFill>
              <a:srgbClr val="8064A2"/>
            </a:solidFill>
          </p:spPr>
          <p:txBody>
            <a:bodyPr/>
            <a:lstStyle/>
            <a:p>
              <a:endParaRPr lang="en-IN"/>
            </a:p>
          </p:txBody>
        </p:sp>
        <p:sp>
          <p:nvSpPr>
            <p:cNvPr id="16" name="TextBox 16"/>
            <p:cNvSpPr txBox="1"/>
            <p:nvPr/>
          </p:nvSpPr>
          <p:spPr>
            <a:xfrm>
              <a:off x="0" y="-57150"/>
              <a:ext cx="2554514" cy="1722618"/>
            </a:xfrm>
            <a:prstGeom prst="rect">
              <a:avLst/>
            </a:prstGeom>
          </p:spPr>
          <p:txBody>
            <a:bodyPr lIns="50800" tIns="50800" rIns="50800" bIns="50800" rtlCol="0" anchor="ctr"/>
            <a:lstStyle/>
            <a:p>
              <a:pPr algn="ctr">
                <a:lnSpc>
                  <a:spcPts val="3240"/>
                </a:lnSpc>
              </a:pPr>
              <a:r>
                <a:rPr lang="en-US" sz="2700" dirty="0">
                  <a:solidFill>
                    <a:srgbClr val="000000"/>
                  </a:solidFill>
                  <a:latin typeface="Calibri (MS)"/>
                  <a:ea typeface="Calibri (MS)"/>
                  <a:cs typeface="Calibri (MS)"/>
                  <a:sym typeface="Calibri (MS)"/>
                </a:rPr>
                <a:t>Team </a:t>
              </a:r>
              <a:r>
                <a:rPr lang="en-US" sz="2700" dirty="0" err="1">
                  <a:solidFill>
                    <a:srgbClr val="000000"/>
                  </a:solidFill>
                  <a:latin typeface="Calibri (MS)"/>
                  <a:ea typeface="Calibri (MS)"/>
                  <a:cs typeface="Calibri (MS)"/>
                  <a:sym typeface="Calibri (MS)"/>
                </a:rPr>
                <a:t>Omniscients</a:t>
              </a:r>
              <a:endParaRPr lang="en-US" sz="2700" dirty="0">
                <a:solidFill>
                  <a:srgbClr val="000000"/>
                </a:solidFill>
                <a:latin typeface="Calibri (MS)"/>
                <a:ea typeface="Calibri (MS)"/>
                <a:cs typeface="Calibri (MS)"/>
                <a:sym typeface="Calibri (MS)"/>
              </a:endParaRPr>
            </a:p>
          </p:txBody>
        </p:sp>
      </p:grpSp>
      <p:grpSp>
        <p:nvGrpSpPr>
          <p:cNvPr id="17" name="Group 17"/>
          <p:cNvGrpSpPr/>
          <p:nvPr/>
        </p:nvGrpSpPr>
        <p:grpSpPr>
          <a:xfrm>
            <a:off x="6972300" y="9534530"/>
            <a:ext cx="4806000" cy="547688"/>
            <a:chOff x="0" y="0"/>
            <a:chExt cx="6408000" cy="730250"/>
          </a:xfrm>
        </p:grpSpPr>
        <p:sp>
          <p:nvSpPr>
            <p:cNvPr id="18" name="Freeform 18"/>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solidFill>
              <a:srgbClr val="000000">
                <a:alpha val="0"/>
              </a:srgbClr>
            </a:solidFill>
          </p:spPr>
          <p:txBody>
            <a:bodyPr/>
            <a:lstStyle/>
            <a:p>
              <a:endParaRPr lang="en-IN"/>
            </a:p>
          </p:txBody>
        </p:sp>
        <p:sp>
          <p:nvSpPr>
            <p:cNvPr id="19" name="TextBox 19"/>
            <p:cNvSpPr txBox="1"/>
            <p:nvPr/>
          </p:nvSpPr>
          <p:spPr>
            <a:xfrm>
              <a:off x="0" y="-19050"/>
              <a:ext cx="6408000"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@Hack4Industry Elimination Round- Template</a:t>
              </a:r>
            </a:p>
          </p:txBody>
        </p:sp>
      </p:grpSp>
      <p:sp>
        <p:nvSpPr>
          <p:cNvPr id="20" name="Freeform 20"/>
          <p:cNvSpPr/>
          <p:nvPr/>
        </p:nvSpPr>
        <p:spPr>
          <a:xfrm>
            <a:off x="16145568" y="0"/>
            <a:ext cx="2053284" cy="2657973"/>
          </a:xfrm>
          <a:custGeom>
            <a:avLst/>
            <a:gdLst/>
            <a:ahLst/>
            <a:cxnLst/>
            <a:rect l="l" t="t" r="r" b="b"/>
            <a:pathLst>
              <a:path w="2053284" h="2657973">
                <a:moveTo>
                  <a:pt x="0" y="0"/>
                </a:moveTo>
                <a:lnTo>
                  <a:pt x="2053284" y="0"/>
                </a:lnTo>
                <a:lnTo>
                  <a:pt x="2053284" y="2657973"/>
                </a:lnTo>
                <a:lnTo>
                  <a:pt x="0" y="2657973"/>
                </a:lnTo>
                <a:lnTo>
                  <a:pt x="0" y="0"/>
                </a:lnTo>
                <a:close/>
              </a:path>
            </a:pathLst>
          </a:custGeom>
          <a:blipFill>
            <a:blip r:embed="rId3"/>
            <a:stretch>
              <a:fillRect/>
            </a:stretch>
          </a:blipFill>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3"/>
            <a:ext cx="18287998" cy="754857"/>
            <a:chOff x="0" y="0"/>
            <a:chExt cx="24383998" cy="1006476"/>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txBody>
            <a:bodyPr/>
            <a:lstStyle/>
            <a:p>
              <a:endParaRPr lang="en-IN"/>
            </a:p>
          </p:txBody>
        </p:sp>
      </p:grpSp>
      <p:grpSp>
        <p:nvGrpSpPr>
          <p:cNvPr id="4" name="Group 4"/>
          <p:cNvGrpSpPr/>
          <p:nvPr/>
        </p:nvGrpSpPr>
        <p:grpSpPr>
          <a:xfrm>
            <a:off x="914400" y="-71438"/>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solidFill>
              <a:srgbClr val="000000">
                <a:alpha val="0"/>
              </a:srgbClr>
            </a:solidFill>
          </p:spPr>
          <p:txBody>
            <a:bodyPr/>
            <a:lstStyle/>
            <a:p>
              <a:endParaRPr lang="en-IN"/>
            </a:p>
          </p:txBody>
        </p:sp>
        <p:sp>
          <p:nvSpPr>
            <p:cNvPr id="6" name="TextBox 6"/>
            <p:cNvSpPr txBox="1"/>
            <p:nvPr/>
          </p:nvSpPr>
          <p:spPr>
            <a:xfrm>
              <a:off x="0" y="-104775"/>
              <a:ext cx="21945600" cy="2390775"/>
            </a:xfrm>
            <a:prstGeom prst="rect">
              <a:avLst/>
            </a:prstGeom>
          </p:spPr>
          <p:txBody>
            <a:bodyPr lIns="0" tIns="0" rIns="0" bIns="0" rtlCol="0" anchor="ctr"/>
            <a:lstStyle/>
            <a:p>
              <a:pPr algn="ctr">
                <a:lnSpc>
                  <a:spcPts val="6480"/>
                </a:lnSpc>
              </a:pPr>
              <a:r>
                <a:rPr lang="en-US" sz="5400" b="1">
                  <a:solidFill>
                    <a:srgbClr val="000000"/>
                  </a:solidFill>
                  <a:latin typeface="Times New Roman Bold"/>
                  <a:ea typeface="Times New Roman Bold"/>
                  <a:cs typeface="Times New Roman Bold"/>
                  <a:sym typeface="Times New Roman Bold"/>
                </a:rPr>
                <a:t>RESEARCH  AND REFERENCES</a:t>
              </a:r>
            </a:p>
          </p:txBody>
        </p:sp>
      </p:grpSp>
      <p:grpSp>
        <p:nvGrpSpPr>
          <p:cNvPr id="7" name="Group 7"/>
          <p:cNvGrpSpPr/>
          <p:nvPr/>
        </p:nvGrpSpPr>
        <p:grpSpPr>
          <a:xfrm>
            <a:off x="685800" y="3390010"/>
            <a:ext cx="15231168" cy="1769903"/>
            <a:chOff x="0" y="-542211"/>
            <a:chExt cx="20308224" cy="1588651"/>
          </a:xfrm>
        </p:grpSpPr>
        <p:sp>
          <p:nvSpPr>
            <p:cNvPr id="8" name="Freeform 8"/>
            <p:cNvSpPr/>
            <p:nvPr/>
          </p:nvSpPr>
          <p:spPr>
            <a:xfrm>
              <a:off x="1537624" y="-542211"/>
              <a:ext cx="18770600" cy="1046440"/>
            </a:xfrm>
            <a:custGeom>
              <a:avLst/>
              <a:gdLst/>
              <a:ahLst/>
              <a:cxnLst/>
              <a:rect l="l" t="t" r="r" b="b"/>
              <a:pathLst>
                <a:path w="18770600" h="1046440">
                  <a:moveTo>
                    <a:pt x="0" y="0"/>
                  </a:moveTo>
                  <a:lnTo>
                    <a:pt x="18770600" y="0"/>
                  </a:lnTo>
                  <a:lnTo>
                    <a:pt x="18770600" y="1046440"/>
                  </a:lnTo>
                  <a:lnTo>
                    <a:pt x="0" y="1046440"/>
                  </a:lnTo>
                  <a:close/>
                </a:path>
              </a:pathLst>
            </a:custGeom>
            <a:solidFill>
              <a:srgbClr val="000000">
                <a:alpha val="0"/>
              </a:srgbClr>
            </a:solidFill>
          </p:spPr>
          <p:txBody>
            <a:bodyPr/>
            <a:lstStyle/>
            <a:p>
              <a:pPr marL="342900" indent="-342900">
                <a:buFont typeface="Wingdings" panose="05000000000000000000" pitchFamily="2" charset="2"/>
                <a:buChar char="à"/>
              </a:pPr>
              <a:r>
                <a:rPr lang="en-IN" sz="3200" dirty="0">
                  <a:latin typeface="Arial" panose="020B0604020202020204" pitchFamily="34" charset="0"/>
                  <a:cs typeface="Arial" panose="020B0604020202020204" pitchFamily="34" charset="0"/>
                  <a:sym typeface="Wingdings" panose="05000000000000000000" pitchFamily="2" charset="2"/>
                </a:rPr>
                <a:t>Knowledge gained through the last semester’s PAI subject.</a:t>
              </a:r>
            </a:p>
            <a:p>
              <a:pPr marL="342900" indent="-342900">
                <a:buFont typeface="Wingdings" panose="05000000000000000000" pitchFamily="2" charset="2"/>
                <a:buChar char="à"/>
              </a:pPr>
              <a:r>
                <a:rPr lang="en-IN" sz="3200" dirty="0">
                  <a:latin typeface="Arial" panose="020B0604020202020204" pitchFamily="34" charset="0"/>
                  <a:cs typeface="Arial" panose="020B0604020202020204" pitchFamily="34" charset="0"/>
                  <a:sym typeface="Wingdings" panose="05000000000000000000" pitchFamily="2" charset="2"/>
                </a:rPr>
                <a:t>News articles related to the road congestion and industrial vehicles problem in Jamnagar.</a:t>
              </a:r>
            </a:p>
            <a:p>
              <a:pPr marL="342900" indent="-342900">
                <a:buFont typeface="Wingdings" panose="05000000000000000000" pitchFamily="2" charset="2"/>
                <a:buChar char="à"/>
              </a:pPr>
              <a:endParaRPr lang="en-IN" sz="3200" dirty="0">
                <a:latin typeface="Arial" panose="020B0604020202020204" pitchFamily="34" charset="0"/>
                <a:cs typeface="Arial" panose="020B0604020202020204" pitchFamily="34" charset="0"/>
                <a:sym typeface="Wingdings" panose="05000000000000000000" pitchFamily="2" charset="2"/>
              </a:endParaRPr>
            </a:p>
            <a:p>
              <a:pPr marL="342900" indent="-342900">
                <a:buFont typeface="Wingdings" panose="05000000000000000000" pitchFamily="2" charset="2"/>
                <a:buChar char="à"/>
              </a:pPr>
              <a:endParaRPr lang="en-IN" sz="3200" dirty="0">
                <a:latin typeface="Arial" panose="020B0604020202020204" pitchFamily="34" charset="0"/>
                <a:cs typeface="Arial" panose="020B0604020202020204" pitchFamily="34" charset="0"/>
              </a:endParaRPr>
            </a:p>
          </p:txBody>
        </p:sp>
        <p:sp>
          <p:nvSpPr>
            <p:cNvPr id="9" name="TextBox 9"/>
            <p:cNvSpPr txBox="1"/>
            <p:nvPr/>
          </p:nvSpPr>
          <p:spPr>
            <a:xfrm>
              <a:off x="0" y="-85725"/>
              <a:ext cx="18770600" cy="1132165"/>
            </a:xfrm>
            <a:prstGeom prst="rect">
              <a:avLst/>
            </a:prstGeom>
          </p:spPr>
          <p:txBody>
            <a:bodyPr lIns="0" tIns="0" rIns="0" bIns="0" rtlCol="0" anchor="t"/>
            <a:lstStyle/>
            <a:p>
              <a:pPr marL="760095" lvl="1" indent="-380048" algn="just">
                <a:lnSpc>
                  <a:spcPts val="5040"/>
                </a:lnSpc>
                <a:buFont typeface="Arial"/>
                <a:buChar char="•"/>
              </a:pPr>
              <a:endParaRPr lang="en-US" sz="4200" dirty="0">
                <a:solidFill>
                  <a:srgbClr val="000000"/>
                </a:solidFill>
                <a:latin typeface="Arial"/>
                <a:ea typeface="Arial"/>
                <a:cs typeface="Arial"/>
                <a:sym typeface="Arial"/>
              </a:endParaRPr>
            </a:p>
          </p:txBody>
        </p:sp>
      </p:grpSp>
      <p:grpSp>
        <p:nvGrpSpPr>
          <p:cNvPr id="10" name="Group 10"/>
          <p:cNvGrpSpPr/>
          <p:nvPr/>
        </p:nvGrpSpPr>
        <p:grpSpPr>
          <a:xfrm>
            <a:off x="13106400" y="9534530"/>
            <a:ext cx="4267200" cy="547688"/>
            <a:chOff x="0" y="0"/>
            <a:chExt cx="5689600" cy="730250"/>
          </a:xfrm>
        </p:grpSpPr>
        <p:sp>
          <p:nvSpPr>
            <p:cNvPr id="11" name="Freeform 11"/>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solidFill>
              <a:srgbClr val="000000">
                <a:alpha val="0"/>
              </a:srgbClr>
            </a:solidFill>
          </p:spPr>
          <p:txBody>
            <a:bodyPr/>
            <a:lstStyle/>
            <a:p>
              <a:endParaRPr lang="en-IN"/>
            </a:p>
          </p:txBody>
        </p:sp>
        <p:sp>
          <p:nvSpPr>
            <p:cNvPr id="12" name="TextBox 12"/>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6</a:t>
              </a:r>
            </a:p>
          </p:txBody>
        </p:sp>
      </p:grpSp>
      <p:grpSp>
        <p:nvGrpSpPr>
          <p:cNvPr id="13" name="Group 13"/>
          <p:cNvGrpSpPr/>
          <p:nvPr/>
        </p:nvGrpSpPr>
        <p:grpSpPr>
          <a:xfrm>
            <a:off x="475610" y="359319"/>
            <a:ext cx="1915886" cy="1249101"/>
            <a:chOff x="0" y="0"/>
            <a:chExt cx="2554514" cy="1665468"/>
          </a:xfrm>
        </p:grpSpPr>
        <p:sp>
          <p:nvSpPr>
            <p:cNvPr id="14" name="Freeform 14" descr="Your startup LOGO"/>
            <p:cNvSpPr/>
            <p:nvPr/>
          </p:nvSpPr>
          <p:spPr>
            <a:xfrm>
              <a:off x="25400" y="25400"/>
              <a:ext cx="2503678" cy="1614678"/>
            </a:xfrm>
            <a:custGeom>
              <a:avLst/>
              <a:gdLst/>
              <a:ahLst/>
              <a:cxnLst/>
              <a:rect l="l" t="t" r="r" b="b"/>
              <a:pathLst>
                <a:path w="2503678" h="1614678">
                  <a:moveTo>
                    <a:pt x="0" y="807339"/>
                  </a:moveTo>
                  <a:cubicBezTo>
                    <a:pt x="0" y="361442"/>
                    <a:pt x="560451" y="0"/>
                    <a:pt x="1251839" y="0"/>
                  </a:cubicBezTo>
                  <a:cubicBezTo>
                    <a:pt x="1943227" y="0"/>
                    <a:pt x="2503678" y="361442"/>
                    <a:pt x="2503678" y="807339"/>
                  </a:cubicBezTo>
                  <a:cubicBezTo>
                    <a:pt x="2503678" y="1253236"/>
                    <a:pt x="1943227" y="1614678"/>
                    <a:pt x="1251839" y="1614678"/>
                  </a:cubicBezTo>
                  <a:cubicBezTo>
                    <a:pt x="560451" y="1614678"/>
                    <a:pt x="0" y="1253236"/>
                    <a:pt x="0" y="807339"/>
                  </a:cubicBezTo>
                  <a:close/>
                </a:path>
              </a:pathLst>
            </a:custGeom>
            <a:solidFill>
              <a:srgbClr val="FFFFFF"/>
            </a:solidFill>
          </p:spPr>
          <p:txBody>
            <a:bodyPr/>
            <a:lstStyle/>
            <a:p>
              <a:endParaRPr lang="en-IN"/>
            </a:p>
          </p:txBody>
        </p:sp>
        <p:sp>
          <p:nvSpPr>
            <p:cNvPr id="15" name="Freeform 15" descr="Your startup LOGO"/>
            <p:cNvSpPr/>
            <p:nvPr/>
          </p:nvSpPr>
          <p:spPr>
            <a:xfrm>
              <a:off x="0" y="0"/>
              <a:ext cx="2554478" cy="1665478"/>
            </a:xfrm>
            <a:custGeom>
              <a:avLst/>
              <a:gdLst/>
              <a:ahLst/>
              <a:cxnLst/>
              <a:rect l="l" t="t" r="r" b="b"/>
              <a:pathLst>
                <a:path w="2554478" h="1665478">
                  <a:moveTo>
                    <a:pt x="0" y="832739"/>
                  </a:moveTo>
                  <a:cubicBezTo>
                    <a:pt x="0" y="363855"/>
                    <a:pt x="583057" y="0"/>
                    <a:pt x="1277239" y="0"/>
                  </a:cubicBezTo>
                  <a:cubicBezTo>
                    <a:pt x="1971421" y="0"/>
                    <a:pt x="2554478" y="363855"/>
                    <a:pt x="2554478" y="832739"/>
                  </a:cubicBezTo>
                  <a:lnTo>
                    <a:pt x="2529078" y="832739"/>
                  </a:lnTo>
                  <a:lnTo>
                    <a:pt x="2554478" y="832739"/>
                  </a:lnTo>
                  <a:cubicBezTo>
                    <a:pt x="2554478" y="1301623"/>
                    <a:pt x="1971421" y="1665478"/>
                    <a:pt x="1277239" y="1665478"/>
                  </a:cubicBezTo>
                  <a:lnTo>
                    <a:pt x="1277239" y="1640078"/>
                  </a:lnTo>
                  <a:lnTo>
                    <a:pt x="1277239" y="1665478"/>
                  </a:lnTo>
                  <a:cubicBezTo>
                    <a:pt x="583057" y="1665478"/>
                    <a:pt x="0" y="1301623"/>
                    <a:pt x="0" y="832739"/>
                  </a:cubicBezTo>
                  <a:lnTo>
                    <a:pt x="25400" y="832739"/>
                  </a:lnTo>
                  <a:lnTo>
                    <a:pt x="50800" y="832739"/>
                  </a:lnTo>
                  <a:lnTo>
                    <a:pt x="25400" y="832739"/>
                  </a:lnTo>
                  <a:lnTo>
                    <a:pt x="0" y="832739"/>
                  </a:lnTo>
                  <a:moveTo>
                    <a:pt x="50800" y="832739"/>
                  </a:moveTo>
                  <a:cubicBezTo>
                    <a:pt x="50800" y="846709"/>
                    <a:pt x="39370" y="858139"/>
                    <a:pt x="25400" y="858139"/>
                  </a:cubicBezTo>
                  <a:cubicBezTo>
                    <a:pt x="11430" y="858139"/>
                    <a:pt x="0" y="846709"/>
                    <a:pt x="0" y="832739"/>
                  </a:cubicBezTo>
                  <a:cubicBezTo>
                    <a:pt x="0" y="818769"/>
                    <a:pt x="11430" y="807339"/>
                    <a:pt x="25400" y="807339"/>
                  </a:cubicBezTo>
                  <a:cubicBezTo>
                    <a:pt x="39370" y="807339"/>
                    <a:pt x="50800" y="818769"/>
                    <a:pt x="50800" y="832739"/>
                  </a:cubicBezTo>
                  <a:cubicBezTo>
                    <a:pt x="50800" y="1255522"/>
                    <a:pt x="588772" y="1614678"/>
                    <a:pt x="1277239" y="1614678"/>
                  </a:cubicBezTo>
                  <a:cubicBezTo>
                    <a:pt x="1965706" y="1614678"/>
                    <a:pt x="2503678" y="1255522"/>
                    <a:pt x="2503678" y="832739"/>
                  </a:cubicBezTo>
                  <a:cubicBezTo>
                    <a:pt x="2503678" y="409956"/>
                    <a:pt x="1965833" y="50800"/>
                    <a:pt x="1277239" y="50800"/>
                  </a:cubicBezTo>
                  <a:lnTo>
                    <a:pt x="1277239" y="25400"/>
                  </a:lnTo>
                  <a:lnTo>
                    <a:pt x="1277239" y="50800"/>
                  </a:lnTo>
                  <a:cubicBezTo>
                    <a:pt x="588772" y="50800"/>
                    <a:pt x="50800" y="409956"/>
                    <a:pt x="50800" y="832739"/>
                  </a:cubicBezTo>
                  <a:close/>
                </a:path>
              </a:pathLst>
            </a:custGeom>
            <a:solidFill>
              <a:srgbClr val="8064A2"/>
            </a:solidFill>
          </p:spPr>
          <p:txBody>
            <a:bodyPr/>
            <a:lstStyle/>
            <a:p>
              <a:endParaRPr lang="en-IN"/>
            </a:p>
          </p:txBody>
        </p:sp>
        <p:sp>
          <p:nvSpPr>
            <p:cNvPr id="16" name="TextBox 16"/>
            <p:cNvSpPr txBox="1"/>
            <p:nvPr/>
          </p:nvSpPr>
          <p:spPr>
            <a:xfrm>
              <a:off x="0" y="-57150"/>
              <a:ext cx="2554514" cy="1722618"/>
            </a:xfrm>
            <a:prstGeom prst="rect">
              <a:avLst/>
            </a:prstGeom>
          </p:spPr>
          <p:txBody>
            <a:bodyPr lIns="50800" tIns="50800" rIns="50800" bIns="50800" rtlCol="0" anchor="ctr"/>
            <a:lstStyle/>
            <a:p>
              <a:pPr algn="ctr">
                <a:lnSpc>
                  <a:spcPts val="3240"/>
                </a:lnSpc>
              </a:pPr>
              <a:r>
                <a:rPr lang="en-US" sz="2700" dirty="0">
                  <a:solidFill>
                    <a:srgbClr val="000000"/>
                  </a:solidFill>
                  <a:latin typeface="Calibri (MS)"/>
                  <a:ea typeface="Calibri (MS)"/>
                  <a:cs typeface="Calibri (MS)"/>
                  <a:sym typeface="Calibri (MS)"/>
                </a:rPr>
                <a:t>Team </a:t>
              </a:r>
              <a:r>
                <a:rPr lang="en-US" sz="2700" dirty="0" err="1">
                  <a:solidFill>
                    <a:srgbClr val="000000"/>
                  </a:solidFill>
                  <a:latin typeface="Calibri (MS)"/>
                  <a:ea typeface="Calibri (MS)"/>
                  <a:cs typeface="Calibri (MS)"/>
                  <a:sym typeface="Calibri (MS)"/>
                </a:rPr>
                <a:t>Omniscients</a:t>
              </a:r>
              <a:endParaRPr lang="en-US" sz="2700" dirty="0">
                <a:solidFill>
                  <a:srgbClr val="000000"/>
                </a:solidFill>
                <a:latin typeface="Calibri (MS)"/>
                <a:ea typeface="Calibri (MS)"/>
                <a:cs typeface="Calibri (MS)"/>
                <a:sym typeface="Calibri (MS)"/>
              </a:endParaRPr>
            </a:p>
          </p:txBody>
        </p:sp>
      </p:grpSp>
      <p:grpSp>
        <p:nvGrpSpPr>
          <p:cNvPr id="17" name="Group 17"/>
          <p:cNvGrpSpPr/>
          <p:nvPr/>
        </p:nvGrpSpPr>
        <p:grpSpPr>
          <a:xfrm>
            <a:off x="6972300" y="9534530"/>
            <a:ext cx="4806000" cy="547688"/>
            <a:chOff x="0" y="0"/>
            <a:chExt cx="6408000" cy="730250"/>
          </a:xfrm>
        </p:grpSpPr>
        <p:sp>
          <p:nvSpPr>
            <p:cNvPr id="18" name="Freeform 18"/>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solidFill>
              <a:srgbClr val="000000">
                <a:alpha val="0"/>
              </a:srgbClr>
            </a:solidFill>
          </p:spPr>
          <p:txBody>
            <a:bodyPr/>
            <a:lstStyle/>
            <a:p>
              <a:endParaRPr lang="en-IN"/>
            </a:p>
          </p:txBody>
        </p:sp>
        <p:sp>
          <p:nvSpPr>
            <p:cNvPr id="19" name="TextBox 19"/>
            <p:cNvSpPr txBox="1"/>
            <p:nvPr/>
          </p:nvSpPr>
          <p:spPr>
            <a:xfrm>
              <a:off x="0" y="-19050"/>
              <a:ext cx="6408000"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@Hack4Industry Elimination Round- Template</a:t>
              </a:r>
            </a:p>
          </p:txBody>
        </p:sp>
      </p:grpSp>
      <p:sp>
        <p:nvSpPr>
          <p:cNvPr id="20" name="Freeform 20"/>
          <p:cNvSpPr/>
          <p:nvPr/>
        </p:nvSpPr>
        <p:spPr>
          <a:xfrm>
            <a:off x="16145568" y="0"/>
            <a:ext cx="2053284" cy="2657973"/>
          </a:xfrm>
          <a:custGeom>
            <a:avLst/>
            <a:gdLst/>
            <a:ahLst/>
            <a:cxnLst/>
            <a:rect l="l" t="t" r="r" b="b"/>
            <a:pathLst>
              <a:path w="2053284" h="2657973">
                <a:moveTo>
                  <a:pt x="0" y="0"/>
                </a:moveTo>
                <a:lnTo>
                  <a:pt x="2053284" y="0"/>
                </a:lnTo>
                <a:lnTo>
                  <a:pt x="2053284" y="2657973"/>
                </a:lnTo>
                <a:lnTo>
                  <a:pt x="0" y="2657973"/>
                </a:lnTo>
                <a:lnTo>
                  <a:pt x="0" y="0"/>
                </a:lnTo>
                <a:close/>
              </a:path>
            </a:pathLst>
          </a:custGeom>
          <a:blipFill>
            <a:blip r:embed="rId3"/>
            <a:stretch>
              <a:fillRect/>
            </a:stretch>
          </a:blipFill>
        </p:spPr>
        <p:txBody>
          <a:bodyPr/>
          <a:lstStyle/>
          <a:p>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
            <a:extLst>
              <a:ext uri="{FF2B5EF4-FFF2-40B4-BE49-F238E27FC236}">
                <a16:creationId xmlns:a16="http://schemas.microsoft.com/office/drawing/2014/main" id="{322EFD26-46A2-1C9B-C26F-70B9945B5E12}"/>
              </a:ext>
            </a:extLst>
          </p:cNvPr>
          <p:cNvGrpSpPr/>
          <p:nvPr/>
        </p:nvGrpSpPr>
        <p:grpSpPr>
          <a:xfrm>
            <a:off x="0" y="9532143"/>
            <a:ext cx="18287998" cy="754857"/>
            <a:chOff x="0" y="0"/>
            <a:chExt cx="24383998" cy="1006476"/>
          </a:xfrm>
        </p:grpSpPr>
        <p:sp>
          <p:nvSpPr>
            <p:cNvPr id="23" name="Freeform 3">
              <a:extLst>
                <a:ext uri="{FF2B5EF4-FFF2-40B4-BE49-F238E27FC236}">
                  <a16:creationId xmlns:a16="http://schemas.microsoft.com/office/drawing/2014/main" id="{FAA6B66F-05C9-95DF-A043-585A0C731861}"/>
                </a:ext>
              </a:extLst>
            </p:cNvPr>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txBody>
            <a:bodyPr/>
            <a:lstStyle/>
            <a:p>
              <a:endParaRPr lang="en-IN"/>
            </a:p>
          </p:txBody>
        </p:sp>
      </p:grpSp>
      <p:grpSp>
        <p:nvGrpSpPr>
          <p:cNvPr id="24" name="Group 4">
            <a:extLst>
              <a:ext uri="{FF2B5EF4-FFF2-40B4-BE49-F238E27FC236}">
                <a16:creationId xmlns:a16="http://schemas.microsoft.com/office/drawing/2014/main" id="{C5BE8A1E-E840-18BD-30C6-B27AC291B068}"/>
              </a:ext>
            </a:extLst>
          </p:cNvPr>
          <p:cNvGrpSpPr/>
          <p:nvPr/>
        </p:nvGrpSpPr>
        <p:grpSpPr>
          <a:xfrm>
            <a:off x="300384" y="2700835"/>
            <a:ext cx="16806516" cy="3519482"/>
            <a:chOff x="-818688" y="3696364"/>
            <a:chExt cx="22408688" cy="4692643"/>
          </a:xfrm>
        </p:grpSpPr>
        <p:sp>
          <p:nvSpPr>
            <p:cNvPr id="25" name="Freeform 5">
              <a:extLst>
                <a:ext uri="{FF2B5EF4-FFF2-40B4-BE49-F238E27FC236}">
                  <a16:creationId xmlns:a16="http://schemas.microsoft.com/office/drawing/2014/main" id="{E63488F7-DD15-9F12-768D-165DFA500D2D}"/>
                </a:ext>
              </a:extLst>
            </p:cNvPr>
            <p:cNvSpPr/>
            <p:nvPr/>
          </p:nvSpPr>
          <p:spPr>
            <a:xfrm>
              <a:off x="-818688" y="3696364"/>
              <a:ext cx="21945600" cy="2286000"/>
            </a:xfrm>
            <a:custGeom>
              <a:avLst/>
              <a:gdLst/>
              <a:ahLst/>
              <a:cxnLst/>
              <a:rect l="l" t="t" r="r" b="b"/>
              <a:pathLst>
                <a:path w="21945600" h="2286000">
                  <a:moveTo>
                    <a:pt x="0" y="0"/>
                  </a:moveTo>
                  <a:lnTo>
                    <a:pt x="21945600" y="0"/>
                  </a:lnTo>
                  <a:lnTo>
                    <a:pt x="21945600" y="2286000"/>
                  </a:lnTo>
                  <a:lnTo>
                    <a:pt x="0" y="2286000"/>
                  </a:lnTo>
                  <a:close/>
                </a:path>
              </a:pathLst>
            </a:custGeom>
            <a:solidFill>
              <a:srgbClr val="000000">
                <a:alpha val="0"/>
              </a:srgbClr>
            </a:solidFill>
          </p:spPr>
          <p:txBody>
            <a:bodyPr/>
            <a:lstStyle/>
            <a:p>
              <a:endParaRPr lang="en-IN" dirty="0"/>
            </a:p>
          </p:txBody>
        </p:sp>
        <p:sp>
          <p:nvSpPr>
            <p:cNvPr id="26" name="TextBox 6">
              <a:extLst>
                <a:ext uri="{FF2B5EF4-FFF2-40B4-BE49-F238E27FC236}">
                  <a16:creationId xmlns:a16="http://schemas.microsoft.com/office/drawing/2014/main" id="{9AF5D0A6-BEE5-96A6-6F9F-00EA753C2187}"/>
                </a:ext>
              </a:extLst>
            </p:cNvPr>
            <p:cNvSpPr txBox="1"/>
            <p:nvPr/>
          </p:nvSpPr>
          <p:spPr>
            <a:xfrm>
              <a:off x="-355600" y="5998232"/>
              <a:ext cx="21945600" cy="2390775"/>
            </a:xfrm>
            <a:prstGeom prst="rect">
              <a:avLst/>
            </a:prstGeom>
          </p:spPr>
          <p:txBody>
            <a:bodyPr lIns="0" tIns="0" rIns="0" bIns="0" rtlCol="0" anchor="ctr"/>
            <a:lstStyle/>
            <a:p>
              <a:pPr algn="ctr">
                <a:lnSpc>
                  <a:spcPts val="6480"/>
                </a:lnSpc>
              </a:pPr>
              <a:r>
                <a:rPr lang="en-US" sz="6600" b="1" dirty="0">
                  <a:solidFill>
                    <a:srgbClr val="000000"/>
                  </a:solidFill>
                  <a:latin typeface="Times New Roman Bold"/>
                  <a:ea typeface="Times New Roman Bold"/>
                  <a:cs typeface="Times New Roman Bold"/>
                  <a:sym typeface="Times New Roman Bold"/>
                </a:rPr>
                <a:t>THANK YOU!!</a:t>
              </a:r>
            </a:p>
            <a:p>
              <a:pPr algn="ctr">
                <a:lnSpc>
                  <a:spcPts val="6480"/>
                </a:lnSpc>
              </a:pPr>
              <a:endParaRPr lang="en-US" sz="6600" b="1" dirty="0">
                <a:solidFill>
                  <a:srgbClr val="000000"/>
                </a:solidFill>
                <a:latin typeface="Times New Roman Bold"/>
                <a:ea typeface="Times New Roman Bold"/>
                <a:cs typeface="Times New Roman Bold"/>
                <a:sym typeface="Times New Roman Bold"/>
              </a:endParaRPr>
            </a:p>
            <a:p>
              <a:pPr algn="ctr">
                <a:lnSpc>
                  <a:spcPts val="6480"/>
                </a:lnSpc>
              </a:pPr>
              <a:r>
                <a:rPr lang="en-US" sz="6600" b="1" dirty="0">
                  <a:solidFill>
                    <a:srgbClr val="000000"/>
                  </a:solidFill>
                  <a:latin typeface="Times New Roman Bold"/>
                  <a:ea typeface="Times New Roman Bold"/>
                  <a:cs typeface="Times New Roman Bold"/>
                  <a:sym typeface="Times New Roman Bold"/>
                </a:rPr>
                <a:t>Q&amp;A</a:t>
              </a:r>
            </a:p>
          </p:txBody>
        </p:sp>
      </p:grpSp>
      <p:sp>
        <p:nvSpPr>
          <p:cNvPr id="29" name="TextBox 9">
            <a:extLst>
              <a:ext uri="{FF2B5EF4-FFF2-40B4-BE49-F238E27FC236}">
                <a16:creationId xmlns:a16="http://schemas.microsoft.com/office/drawing/2014/main" id="{4BE2A4F8-5F85-1DE8-9CEC-D0829E218FDE}"/>
              </a:ext>
            </a:extLst>
          </p:cNvPr>
          <p:cNvSpPr txBox="1"/>
          <p:nvPr/>
        </p:nvSpPr>
        <p:spPr>
          <a:xfrm>
            <a:off x="685800" y="3898577"/>
            <a:ext cx="14077950" cy="1261336"/>
          </a:xfrm>
          <a:prstGeom prst="rect">
            <a:avLst/>
          </a:prstGeom>
        </p:spPr>
        <p:txBody>
          <a:bodyPr lIns="0" tIns="0" rIns="0" bIns="0" rtlCol="0" anchor="t"/>
          <a:lstStyle/>
          <a:p>
            <a:pPr marL="760095" lvl="1" indent="-380048" algn="just">
              <a:lnSpc>
                <a:spcPts val="5040"/>
              </a:lnSpc>
              <a:buFont typeface="Arial"/>
              <a:buChar char="•"/>
            </a:pPr>
            <a:endParaRPr lang="en-US" sz="4200" dirty="0">
              <a:solidFill>
                <a:srgbClr val="000000"/>
              </a:solidFill>
              <a:latin typeface="Arial"/>
              <a:ea typeface="Arial"/>
              <a:cs typeface="Arial"/>
              <a:sym typeface="Arial"/>
            </a:endParaRPr>
          </a:p>
        </p:txBody>
      </p:sp>
      <p:grpSp>
        <p:nvGrpSpPr>
          <p:cNvPr id="30" name="Group 10">
            <a:extLst>
              <a:ext uri="{FF2B5EF4-FFF2-40B4-BE49-F238E27FC236}">
                <a16:creationId xmlns:a16="http://schemas.microsoft.com/office/drawing/2014/main" id="{0F8D2F1E-BFC7-6828-C05B-539FAA6BDA2A}"/>
              </a:ext>
            </a:extLst>
          </p:cNvPr>
          <p:cNvGrpSpPr/>
          <p:nvPr/>
        </p:nvGrpSpPr>
        <p:grpSpPr>
          <a:xfrm>
            <a:off x="13106400" y="9534530"/>
            <a:ext cx="4267200" cy="547688"/>
            <a:chOff x="0" y="0"/>
            <a:chExt cx="5689600" cy="730250"/>
          </a:xfrm>
        </p:grpSpPr>
        <p:sp>
          <p:nvSpPr>
            <p:cNvPr id="31" name="Freeform 11">
              <a:extLst>
                <a:ext uri="{FF2B5EF4-FFF2-40B4-BE49-F238E27FC236}">
                  <a16:creationId xmlns:a16="http://schemas.microsoft.com/office/drawing/2014/main" id="{55C4F01A-789A-3C32-BDC6-E806D5A70252}"/>
                </a:ext>
              </a:extLst>
            </p:cNvPr>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solidFill>
              <a:srgbClr val="000000">
                <a:alpha val="0"/>
              </a:srgbClr>
            </a:solidFill>
          </p:spPr>
          <p:txBody>
            <a:bodyPr/>
            <a:lstStyle/>
            <a:p>
              <a:endParaRPr lang="en-IN"/>
            </a:p>
          </p:txBody>
        </p:sp>
        <p:sp>
          <p:nvSpPr>
            <p:cNvPr id="32" name="TextBox 12">
              <a:extLst>
                <a:ext uri="{FF2B5EF4-FFF2-40B4-BE49-F238E27FC236}">
                  <a16:creationId xmlns:a16="http://schemas.microsoft.com/office/drawing/2014/main" id="{EDC07D84-1836-491E-92DB-9DDB4C9AA61E}"/>
                </a:ext>
              </a:extLst>
            </p:cNvPr>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6</a:t>
              </a:r>
            </a:p>
          </p:txBody>
        </p:sp>
      </p:grpSp>
      <p:grpSp>
        <p:nvGrpSpPr>
          <p:cNvPr id="33" name="Group 13">
            <a:extLst>
              <a:ext uri="{FF2B5EF4-FFF2-40B4-BE49-F238E27FC236}">
                <a16:creationId xmlns:a16="http://schemas.microsoft.com/office/drawing/2014/main" id="{EC35C011-10B8-2A19-0788-1AEC44918BAF}"/>
              </a:ext>
            </a:extLst>
          </p:cNvPr>
          <p:cNvGrpSpPr/>
          <p:nvPr/>
        </p:nvGrpSpPr>
        <p:grpSpPr>
          <a:xfrm>
            <a:off x="475610" y="359319"/>
            <a:ext cx="1915886" cy="1249101"/>
            <a:chOff x="0" y="0"/>
            <a:chExt cx="2554514" cy="1665468"/>
          </a:xfrm>
        </p:grpSpPr>
        <p:sp>
          <p:nvSpPr>
            <p:cNvPr id="34" name="Freeform 14" descr="Your startup LOGO">
              <a:extLst>
                <a:ext uri="{FF2B5EF4-FFF2-40B4-BE49-F238E27FC236}">
                  <a16:creationId xmlns:a16="http://schemas.microsoft.com/office/drawing/2014/main" id="{78A4EC65-75A4-8E64-8D14-1973F98C6C84}"/>
                </a:ext>
              </a:extLst>
            </p:cNvPr>
            <p:cNvSpPr/>
            <p:nvPr/>
          </p:nvSpPr>
          <p:spPr>
            <a:xfrm>
              <a:off x="25400" y="25400"/>
              <a:ext cx="2503678" cy="1614678"/>
            </a:xfrm>
            <a:custGeom>
              <a:avLst/>
              <a:gdLst/>
              <a:ahLst/>
              <a:cxnLst/>
              <a:rect l="l" t="t" r="r" b="b"/>
              <a:pathLst>
                <a:path w="2503678" h="1614678">
                  <a:moveTo>
                    <a:pt x="0" y="807339"/>
                  </a:moveTo>
                  <a:cubicBezTo>
                    <a:pt x="0" y="361442"/>
                    <a:pt x="560451" y="0"/>
                    <a:pt x="1251839" y="0"/>
                  </a:cubicBezTo>
                  <a:cubicBezTo>
                    <a:pt x="1943227" y="0"/>
                    <a:pt x="2503678" y="361442"/>
                    <a:pt x="2503678" y="807339"/>
                  </a:cubicBezTo>
                  <a:cubicBezTo>
                    <a:pt x="2503678" y="1253236"/>
                    <a:pt x="1943227" y="1614678"/>
                    <a:pt x="1251839" y="1614678"/>
                  </a:cubicBezTo>
                  <a:cubicBezTo>
                    <a:pt x="560451" y="1614678"/>
                    <a:pt x="0" y="1253236"/>
                    <a:pt x="0" y="807339"/>
                  </a:cubicBezTo>
                  <a:close/>
                </a:path>
              </a:pathLst>
            </a:custGeom>
            <a:solidFill>
              <a:srgbClr val="FFFFFF"/>
            </a:solidFill>
          </p:spPr>
          <p:txBody>
            <a:bodyPr/>
            <a:lstStyle/>
            <a:p>
              <a:endParaRPr lang="en-IN"/>
            </a:p>
          </p:txBody>
        </p:sp>
        <p:sp>
          <p:nvSpPr>
            <p:cNvPr id="35" name="Freeform 15" descr="Your startup LOGO">
              <a:extLst>
                <a:ext uri="{FF2B5EF4-FFF2-40B4-BE49-F238E27FC236}">
                  <a16:creationId xmlns:a16="http://schemas.microsoft.com/office/drawing/2014/main" id="{3C644609-5072-018A-C871-13369CDA1545}"/>
                </a:ext>
              </a:extLst>
            </p:cNvPr>
            <p:cNvSpPr/>
            <p:nvPr/>
          </p:nvSpPr>
          <p:spPr>
            <a:xfrm>
              <a:off x="0" y="0"/>
              <a:ext cx="2554478" cy="1665478"/>
            </a:xfrm>
            <a:custGeom>
              <a:avLst/>
              <a:gdLst/>
              <a:ahLst/>
              <a:cxnLst/>
              <a:rect l="l" t="t" r="r" b="b"/>
              <a:pathLst>
                <a:path w="2554478" h="1665478">
                  <a:moveTo>
                    <a:pt x="0" y="832739"/>
                  </a:moveTo>
                  <a:cubicBezTo>
                    <a:pt x="0" y="363855"/>
                    <a:pt x="583057" y="0"/>
                    <a:pt x="1277239" y="0"/>
                  </a:cubicBezTo>
                  <a:cubicBezTo>
                    <a:pt x="1971421" y="0"/>
                    <a:pt x="2554478" y="363855"/>
                    <a:pt x="2554478" y="832739"/>
                  </a:cubicBezTo>
                  <a:lnTo>
                    <a:pt x="2529078" y="832739"/>
                  </a:lnTo>
                  <a:lnTo>
                    <a:pt x="2554478" y="832739"/>
                  </a:lnTo>
                  <a:cubicBezTo>
                    <a:pt x="2554478" y="1301623"/>
                    <a:pt x="1971421" y="1665478"/>
                    <a:pt x="1277239" y="1665478"/>
                  </a:cubicBezTo>
                  <a:lnTo>
                    <a:pt x="1277239" y="1640078"/>
                  </a:lnTo>
                  <a:lnTo>
                    <a:pt x="1277239" y="1665478"/>
                  </a:lnTo>
                  <a:cubicBezTo>
                    <a:pt x="583057" y="1665478"/>
                    <a:pt x="0" y="1301623"/>
                    <a:pt x="0" y="832739"/>
                  </a:cubicBezTo>
                  <a:lnTo>
                    <a:pt x="25400" y="832739"/>
                  </a:lnTo>
                  <a:lnTo>
                    <a:pt x="50800" y="832739"/>
                  </a:lnTo>
                  <a:lnTo>
                    <a:pt x="25400" y="832739"/>
                  </a:lnTo>
                  <a:lnTo>
                    <a:pt x="0" y="832739"/>
                  </a:lnTo>
                  <a:moveTo>
                    <a:pt x="50800" y="832739"/>
                  </a:moveTo>
                  <a:cubicBezTo>
                    <a:pt x="50800" y="846709"/>
                    <a:pt x="39370" y="858139"/>
                    <a:pt x="25400" y="858139"/>
                  </a:cubicBezTo>
                  <a:cubicBezTo>
                    <a:pt x="11430" y="858139"/>
                    <a:pt x="0" y="846709"/>
                    <a:pt x="0" y="832739"/>
                  </a:cubicBezTo>
                  <a:cubicBezTo>
                    <a:pt x="0" y="818769"/>
                    <a:pt x="11430" y="807339"/>
                    <a:pt x="25400" y="807339"/>
                  </a:cubicBezTo>
                  <a:cubicBezTo>
                    <a:pt x="39370" y="807339"/>
                    <a:pt x="50800" y="818769"/>
                    <a:pt x="50800" y="832739"/>
                  </a:cubicBezTo>
                  <a:cubicBezTo>
                    <a:pt x="50800" y="1255522"/>
                    <a:pt x="588772" y="1614678"/>
                    <a:pt x="1277239" y="1614678"/>
                  </a:cubicBezTo>
                  <a:cubicBezTo>
                    <a:pt x="1965706" y="1614678"/>
                    <a:pt x="2503678" y="1255522"/>
                    <a:pt x="2503678" y="832739"/>
                  </a:cubicBezTo>
                  <a:cubicBezTo>
                    <a:pt x="2503678" y="409956"/>
                    <a:pt x="1965833" y="50800"/>
                    <a:pt x="1277239" y="50800"/>
                  </a:cubicBezTo>
                  <a:lnTo>
                    <a:pt x="1277239" y="25400"/>
                  </a:lnTo>
                  <a:lnTo>
                    <a:pt x="1277239" y="50800"/>
                  </a:lnTo>
                  <a:cubicBezTo>
                    <a:pt x="588772" y="50800"/>
                    <a:pt x="50800" y="409956"/>
                    <a:pt x="50800" y="832739"/>
                  </a:cubicBezTo>
                  <a:close/>
                </a:path>
              </a:pathLst>
            </a:custGeom>
            <a:solidFill>
              <a:srgbClr val="8064A2"/>
            </a:solidFill>
          </p:spPr>
          <p:txBody>
            <a:bodyPr/>
            <a:lstStyle/>
            <a:p>
              <a:endParaRPr lang="en-IN"/>
            </a:p>
          </p:txBody>
        </p:sp>
        <p:sp>
          <p:nvSpPr>
            <p:cNvPr id="36" name="TextBox 16">
              <a:extLst>
                <a:ext uri="{FF2B5EF4-FFF2-40B4-BE49-F238E27FC236}">
                  <a16:creationId xmlns:a16="http://schemas.microsoft.com/office/drawing/2014/main" id="{0DC22416-0609-4549-1030-0293B6E0031C}"/>
                </a:ext>
              </a:extLst>
            </p:cNvPr>
            <p:cNvSpPr txBox="1"/>
            <p:nvPr/>
          </p:nvSpPr>
          <p:spPr>
            <a:xfrm>
              <a:off x="0" y="-57150"/>
              <a:ext cx="2554514" cy="1722618"/>
            </a:xfrm>
            <a:prstGeom prst="rect">
              <a:avLst/>
            </a:prstGeom>
          </p:spPr>
          <p:txBody>
            <a:bodyPr lIns="50800" tIns="50800" rIns="50800" bIns="50800" rtlCol="0" anchor="ctr"/>
            <a:lstStyle/>
            <a:p>
              <a:pPr algn="ctr">
                <a:lnSpc>
                  <a:spcPts val="3240"/>
                </a:lnSpc>
              </a:pPr>
              <a:r>
                <a:rPr lang="en-US" sz="2700" dirty="0">
                  <a:solidFill>
                    <a:srgbClr val="000000"/>
                  </a:solidFill>
                  <a:latin typeface="Calibri (MS)"/>
                  <a:ea typeface="Calibri (MS)"/>
                  <a:cs typeface="Calibri (MS)"/>
                  <a:sym typeface="Calibri (MS)"/>
                </a:rPr>
                <a:t>Team </a:t>
              </a:r>
              <a:r>
                <a:rPr lang="en-US" sz="2700" dirty="0" err="1">
                  <a:solidFill>
                    <a:srgbClr val="000000"/>
                  </a:solidFill>
                  <a:latin typeface="Calibri (MS)"/>
                  <a:ea typeface="Calibri (MS)"/>
                  <a:cs typeface="Calibri (MS)"/>
                  <a:sym typeface="Calibri (MS)"/>
                </a:rPr>
                <a:t>Omniscients</a:t>
              </a:r>
              <a:endParaRPr lang="en-US" sz="2700" dirty="0">
                <a:solidFill>
                  <a:srgbClr val="000000"/>
                </a:solidFill>
                <a:latin typeface="Calibri (MS)"/>
                <a:ea typeface="Calibri (MS)"/>
                <a:cs typeface="Calibri (MS)"/>
                <a:sym typeface="Calibri (MS)"/>
              </a:endParaRPr>
            </a:p>
          </p:txBody>
        </p:sp>
      </p:grpSp>
      <p:grpSp>
        <p:nvGrpSpPr>
          <p:cNvPr id="37" name="Group 17">
            <a:extLst>
              <a:ext uri="{FF2B5EF4-FFF2-40B4-BE49-F238E27FC236}">
                <a16:creationId xmlns:a16="http://schemas.microsoft.com/office/drawing/2014/main" id="{B1549C4B-C988-1D78-B0B7-2A555C2F5EF4}"/>
              </a:ext>
            </a:extLst>
          </p:cNvPr>
          <p:cNvGrpSpPr/>
          <p:nvPr/>
        </p:nvGrpSpPr>
        <p:grpSpPr>
          <a:xfrm>
            <a:off x="6972300" y="9534530"/>
            <a:ext cx="4806000" cy="547688"/>
            <a:chOff x="0" y="0"/>
            <a:chExt cx="6408000" cy="730250"/>
          </a:xfrm>
        </p:grpSpPr>
        <p:sp>
          <p:nvSpPr>
            <p:cNvPr id="38" name="Freeform 18">
              <a:extLst>
                <a:ext uri="{FF2B5EF4-FFF2-40B4-BE49-F238E27FC236}">
                  <a16:creationId xmlns:a16="http://schemas.microsoft.com/office/drawing/2014/main" id="{7E711E64-14F8-F796-29CA-CC9E0499B22A}"/>
                </a:ext>
              </a:extLst>
            </p:cNvPr>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solidFill>
              <a:srgbClr val="000000">
                <a:alpha val="0"/>
              </a:srgbClr>
            </a:solidFill>
          </p:spPr>
          <p:txBody>
            <a:bodyPr/>
            <a:lstStyle/>
            <a:p>
              <a:endParaRPr lang="en-IN"/>
            </a:p>
          </p:txBody>
        </p:sp>
        <p:sp>
          <p:nvSpPr>
            <p:cNvPr id="39" name="TextBox 19">
              <a:extLst>
                <a:ext uri="{FF2B5EF4-FFF2-40B4-BE49-F238E27FC236}">
                  <a16:creationId xmlns:a16="http://schemas.microsoft.com/office/drawing/2014/main" id="{1AE0F95D-93C9-1358-F717-BA5738FDBD5D}"/>
                </a:ext>
              </a:extLst>
            </p:cNvPr>
            <p:cNvSpPr txBox="1"/>
            <p:nvPr/>
          </p:nvSpPr>
          <p:spPr>
            <a:xfrm>
              <a:off x="0" y="-19050"/>
              <a:ext cx="6408000"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@Hack4Industry Elimination Round- Template</a:t>
              </a:r>
            </a:p>
          </p:txBody>
        </p:sp>
      </p:grpSp>
      <p:sp>
        <p:nvSpPr>
          <p:cNvPr id="40" name="Freeform 20">
            <a:extLst>
              <a:ext uri="{FF2B5EF4-FFF2-40B4-BE49-F238E27FC236}">
                <a16:creationId xmlns:a16="http://schemas.microsoft.com/office/drawing/2014/main" id="{8CA773AB-D1A3-14E7-E4B2-6FF007370051}"/>
              </a:ext>
            </a:extLst>
          </p:cNvPr>
          <p:cNvSpPr/>
          <p:nvPr/>
        </p:nvSpPr>
        <p:spPr>
          <a:xfrm>
            <a:off x="16145568" y="0"/>
            <a:ext cx="2053284" cy="2657973"/>
          </a:xfrm>
          <a:custGeom>
            <a:avLst/>
            <a:gdLst/>
            <a:ahLst/>
            <a:cxnLst/>
            <a:rect l="l" t="t" r="r" b="b"/>
            <a:pathLst>
              <a:path w="2053284" h="2657973">
                <a:moveTo>
                  <a:pt x="0" y="0"/>
                </a:moveTo>
                <a:lnTo>
                  <a:pt x="2053284" y="0"/>
                </a:lnTo>
                <a:lnTo>
                  <a:pt x="2053284" y="2657973"/>
                </a:lnTo>
                <a:lnTo>
                  <a:pt x="0" y="2657973"/>
                </a:lnTo>
                <a:lnTo>
                  <a:pt x="0" y="0"/>
                </a:lnTo>
                <a:close/>
              </a:path>
            </a:pathLst>
          </a:custGeom>
          <a:blipFill>
            <a:blip r:embed="rId2"/>
            <a:stretch>
              <a:fillRect/>
            </a:stretch>
          </a:blipFill>
        </p:spPr>
        <p:txBody>
          <a:bodyPr/>
          <a:lstStyle/>
          <a:p>
            <a:endParaRPr lang="en-IN"/>
          </a:p>
        </p:txBody>
      </p:sp>
    </p:spTree>
    <p:extLst>
      <p:ext uri="{BB962C8B-B14F-4D97-AF65-F5344CB8AC3E}">
        <p14:creationId xmlns:p14="http://schemas.microsoft.com/office/powerpoint/2010/main" val="33673053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1493</TotalTime>
  <Words>1065</Words>
  <Application>Microsoft Office PowerPoint</Application>
  <PresentationFormat>Custom</PresentationFormat>
  <Paragraphs>152</Paragraphs>
  <Slides>10</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Arimo</vt:lpstr>
      <vt:lpstr>Calibri</vt:lpstr>
      <vt:lpstr>Arial Bold</vt:lpstr>
      <vt:lpstr>Arimo Bold</vt:lpstr>
      <vt:lpstr>Calibri (MS)</vt:lpstr>
      <vt:lpstr>Wingdings</vt:lpstr>
      <vt:lpstr>Blanka</vt:lpstr>
      <vt:lpstr>Arial</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SIH2024_IDEA_Presentation_Format.pptx</dc:title>
  <dc:creator>OP Panwar</dc:creator>
  <cp:lastModifiedBy>OP Panwar</cp:lastModifiedBy>
  <cp:revision>9</cp:revision>
  <dcterms:created xsi:type="dcterms:W3CDTF">2006-08-16T00:00:00Z</dcterms:created>
  <dcterms:modified xsi:type="dcterms:W3CDTF">2025-03-21T09:48:43Z</dcterms:modified>
  <dc:identifier>DAGiAjvl5kE</dc:identifier>
</cp:coreProperties>
</file>